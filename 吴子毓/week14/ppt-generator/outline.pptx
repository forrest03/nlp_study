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2E86AB"/>
                </a:solidFill>
                <a:latin typeface="Calibri"/>
              </a:rPr>
              <a:t>自进化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E3A5F"/>
                </a:solidFill>
                <a:latin typeface="Calibri"/>
              </a:rPr>
              <a:t>从对话失败中自动演化的 Skill 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66666"/>
                </a:solidFill>
                <a:latin typeface="Calibri"/>
              </a:rPr>
              <a:t>· 22% → 80% 准确率提升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66666"/>
                </a:solidFill>
                <a:latin typeface="Calibri"/>
              </a:rPr>
              <a:t>· 8 块 Nudge 进化轨迹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66666"/>
                </a:solidFill>
                <a:latin typeface="Calibri"/>
              </a:rPr>
              <a:t>· 契约式评估设计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AAAA"/>
                </a:solidFill>
                <a:latin typeface="Calibri"/>
              </a:rPr>
              <a:t>八斗学院出品|盗版必究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AB"/>
                </a:solidFill>
                <a:latin typeface="Calibri"/>
              </a:rPr>
              <a:t>01 核心机制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E86AB"/>
                </a:solidFill>
                <a:latin typeface="Calibri"/>
              </a:rPr>
              <a:t>Skill 是可进化的操作 SOP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3A5F"/>
                </a:solidFill>
                <a:latin typeface="Calibri"/>
              </a:rPr>
              <a:t>不是 RAG 知识搬运，而是带边界条件的决策流程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66666"/>
                </a:solidFill>
                <a:latin typeface="Calibri"/>
              </a:rPr>
              <a:t>· Skill = 结构化操作文档，按步骤照做而非推理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66666"/>
                </a:solidFill>
                <a:latin typeface="Calibri"/>
              </a:rPr>
              <a:t>· 三种演化：patch 补分支 / create 建新域 / patch 重写强度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66666"/>
                </a:solidFill>
                <a:latin typeface="Calibri"/>
              </a:rPr>
              <a:t>· Reviewer 仅接收失败样本，最小改动原则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37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AAAA"/>
                </a:solidFill>
                <a:latin typeface="Calibri"/>
              </a:rPr>
              <a:t>八斗学院出品|盗版必究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AB"/>
                </a:solidFill>
                <a:latin typeface="Calibri"/>
              </a:rPr>
              <a:t>02 评估契约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E86AB"/>
                </a:solidFill>
                <a:latin typeface="Calibri"/>
              </a:rPr>
              <a:t>Agent-Evaluator 契约式设计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3A5F"/>
                </a:solidFill>
                <a:latin typeface="Calibri"/>
              </a:rPr>
              <a:t>三类互斥失败原因，评估简单可解释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66666"/>
                </a:solidFill>
                <a:latin typeface="Calibri"/>
              </a:rPr>
              <a:t>· 不能答时只说「需要联系人工客服」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66666"/>
                </a:solidFill>
                <a:latin typeface="Calibri"/>
              </a:rPr>
              <a:t>· 评估器：推脱一票否决 / 缺关键词 / 出现禁止词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66666"/>
                </a:solidFill>
                <a:latin typeface="Calibri"/>
              </a:rPr>
              <a:t>· 数字归一化 + 否定前置检测，确定性可复现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37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AAAA"/>
                </a:solidFill>
                <a:latin typeface="Calibri"/>
              </a:rPr>
              <a:t>八斗学院出品|盗版必究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AB"/>
                </a:solidFill>
                <a:latin typeface="Calibri"/>
              </a:rPr>
              <a:t>03 进化效果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E86AB"/>
                </a:solidFill>
                <a:latin typeface="Calibri"/>
              </a:rPr>
              <a:t>准确率从 22% 提升到 80%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3A5F"/>
                </a:solidFill>
                <a:latin typeface="Calibri"/>
              </a:rPr>
              <a:t>每块失败驱动对应 Skill 出现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66666"/>
                </a:solidFill>
                <a:latin typeface="Calibri"/>
              </a:rPr>
              <a:t>· vip_refund：25% → 100%（patch VIP 分支）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66666"/>
                </a:solidFill>
                <a:latin typeface="Calibri"/>
              </a:rPr>
              <a:t>· digital_goods：0% → 100%（create 新 Skill）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3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66666"/>
                </a:solidFill>
                <a:latin typeface="Calibri"/>
              </a:rPr>
              <a:t>· logistics/payment：0% → 60-100%（create 新 Skill）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37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AAAA"/>
                </a:solidFill>
                <a:latin typeface="Calibri"/>
              </a:rPr>
              <a:t>八斗学院出品|盗版必究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AB"/>
                </a:solidFill>
                <a:latin typeface="Calibri"/>
              </a:rPr>
              <a:t>04 优化效果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E86AB"/>
                </a:solidFill>
                <a:latin typeface="Calibri"/>
              </a:rPr>
              <a:t>Skill 优化 v1 vs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3A5F"/>
                </a:solidFill>
                <a:latin typeface="Calibri"/>
              </a:rPr>
              <a:t>从硬编码到动态提取：一次重构让模板可复用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3931920" cy="4572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4027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F0F0"/>
                </a:solidFill>
                <a:latin typeface="Calibri"/>
              </a:rPr>
              <a:t>v1 初始版（硬编码）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2194560"/>
            <a:ext cx="3931920" cy="4572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24027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F0F0"/>
                </a:solidFill>
                <a:latin typeface="Calibri"/>
              </a:rPr>
              <a:t>v2 优化版（动态提取）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1979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3A5F"/>
                </a:solidFill>
                <a:latin typeface="Calibri"/>
              </a:rPr>
              <a:t>模板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9756" y="2743200"/>
            <a:ext cx="16779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  <a:latin typeface="Calibri"/>
              </a:rPr>
              <a:t>1 个固定模板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743200"/>
            <a:ext cx="1979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3A5F"/>
                </a:solidFill>
                <a:latin typeface="Calibri"/>
              </a:rPr>
              <a:t>模板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17436" y="2743200"/>
            <a:ext cx="16779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  <a:latin typeface="Calibri"/>
              </a:rPr>
              <a:t>任意 pptx 模板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1979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3A5F"/>
                </a:solidFill>
                <a:latin typeface="Calibri"/>
              </a:rPr>
              <a:t>配色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9756" y="3154680"/>
            <a:ext cx="16779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  <a:latin typeface="Calibri"/>
              </a:rPr>
              <a:t>全部写死 hex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154680"/>
            <a:ext cx="1979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3A5F"/>
                </a:solidFill>
                <a:latin typeface="Calibri"/>
              </a:rPr>
              <a:t>配色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17436" y="3154680"/>
            <a:ext cx="16779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  <a:latin typeface="Calibri"/>
              </a:rPr>
              <a:t>按字号+位置启发式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1979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3A5F"/>
                </a:solidFill>
                <a:latin typeface="Calibri"/>
              </a:rPr>
              <a:t>字体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9756" y="3566160"/>
            <a:ext cx="16779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  <a:latin typeface="Calibri"/>
              </a:rPr>
              <a:t>Calibri 硬编码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566160"/>
            <a:ext cx="1979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3A5F"/>
                </a:solidFill>
                <a:latin typeface="Calibri"/>
              </a:rPr>
              <a:t>字体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7436" y="3566160"/>
            <a:ext cx="16779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  <a:latin typeface="Calibri"/>
              </a:rPr>
              <a:t>从 theme1.xml 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77640"/>
            <a:ext cx="1979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3A5F"/>
                </a:solidFill>
                <a:latin typeface="Calibri"/>
              </a:rPr>
              <a:t>LLM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9756" y="3977640"/>
            <a:ext cx="16779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  <a:latin typeface="Calibri"/>
              </a:rPr>
              <a:t>194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3977640"/>
            <a:ext cx="1979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3A5F"/>
                </a:solidFill>
                <a:latin typeface="Calibri"/>
              </a:rPr>
              <a:t>LLM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7436" y="3977640"/>
            <a:ext cx="16779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  <a:latin typeface="Calibri"/>
              </a:rPr>
              <a:t>100 token (-48.5%)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89120"/>
            <a:ext cx="1979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3A5F"/>
                </a:solidFill>
                <a:latin typeface="Calibri"/>
              </a:rPr>
              <a:t>复用性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9756" y="4389120"/>
            <a:ext cx="16779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  <a:latin typeface="Calibri"/>
              </a:rPr>
              <a:t>换模板需改代码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389120"/>
            <a:ext cx="1979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E3A5F"/>
                </a:solidFill>
                <a:latin typeface="Calibri"/>
              </a:rPr>
              <a:t>复用性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7436" y="4389120"/>
            <a:ext cx="16779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86AB"/>
                </a:solidFill>
                <a:latin typeface="Calibri"/>
              </a:rPr>
              <a:t>传 --template 即可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864608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F0F0"/>
                </a:solidFill>
                <a:latin typeface="Calibri"/>
              </a:rPr>
              <a:t>结论：模板视觉规范从硬编码 → 动态解析，一次写完终身复用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137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AAAA"/>
                </a:solidFill>
                <a:latin typeface="Calibri"/>
              </a:rPr>
              <a:t>八斗学院出品|盗版必究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AB"/>
                </a:solidFill>
                <a:latin typeface="Calibri"/>
              </a:rPr>
              <a:t>Part 6 · Graph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E86AB"/>
                </a:solidFill>
                <a:latin typeface="Calibri"/>
              </a:rPr>
              <a:t>什么是 Graph Engineering？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3A5F"/>
                </a:solidFill>
                <a:latin typeface="Calibri"/>
              </a:rPr>
              <a:t>设计 multi-agent 系统的拓扑——哪些节点存在、哪些转换允许、状态如何流动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0F0F0"/>
                </a:solidFill>
                <a:latin typeface="Calibri"/>
              </a:rPr>
              <a:t>命名事件而非新发明——2026.7 定型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3931920" cy="2011680"/>
          </a:xfrm>
          <a:prstGeom prst="rect">
            <a:avLst/>
          </a:prstGeom>
          <a:solidFill>
            <a:srgbClr val="1E3A5F"/>
          </a:solidFill>
          <a:ln w="1905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F0F0"/>
                </a:solidFill>
                <a:latin typeface="Calibri"/>
              </a:rPr>
              <a:t>与 GraphRAG 的关键区别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0F0F0"/>
                </a:solidFill>
                <a:latin typeface="Calibri"/>
              </a:rPr>
              <a:t>GraphRAG / 知识图谱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0332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0F0F0"/>
                </a:solidFill>
                <a:latin typeface="Calibri"/>
              </a:rPr>
              <a:t>结构化『数据』——实体、关系、三元组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04487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0F0F0"/>
                </a:solidFill>
                <a:latin typeface="Calibri"/>
              </a:rPr>
              <a:t>回答：系统知道什么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743200"/>
            <a:ext cx="3931920" cy="2011680"/>
          </a:xfrm>
          <a:prstGeom prst="rect">
            <a:avLst/>
          </a:prstGeom>
          <a:solidFill>
            <a:srgbClr val="1E3A5F"/>
          </a:solidFill>
          <a:ln w="19050">
            <a:solidFill>
              <a:srgbClr val="2E86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8346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0F0F0"/>
                </a:solidFill>
                <a:latin typeface="Calibri"/>
              </a:rPr>
              <a:t>Graph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2461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0F0F0"/>
                </a:solidFill>
                <a:latin typeface="Calibri"/>
              </a:rPr>
              <a:t>工程对象：系统本身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70332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0F0F0"/>
                </a:solidFill>
                <a:latin typeface="Calibri"/>
              </a:rPr>
              <a:t>结构化『系统本身』——agent、路由、审批门的拓扑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904487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0F0F0"/>
                </a:solidFill>
                <a:latin typeface="Calibri"/>
              </a:rPr>
              <a:t>回答：系统是谁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64608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F0F0"/>
                </a:solidFill>
                <a:latin typeface="Calibri"/>
              </a:rPr>
              <a:t>两者可在同一架构中共存——回答不同问题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137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AAAA"/>
                </a:solidFill>
                <a:latin typeface="Calibri"/>
              </a:rPr>
              <a:t>八斗学院出品|盗版必究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86AB"/>
                </a:solidFill>
                <a:latin typeface="Calibri"/>
              </a:rPr>
              <a:t>05 工程五层栈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E86AB"/>
                </a:solidFill>
                <a:latin typeface="Calibri"/>
              </a:rPr>
              <a:t>AI 工程的五层栈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E3A5F"/>
                </a:solidFill>
                <a:latin typeface="Calibri"/>
              </a:rPr>
              <a:t>逐层包含——上层能力依赖下层基础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7863840" cy="3840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31136"/>
            <a:ext cx="74980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F0F0"/>
                </a:solidFill>
                <a:latin typeface="Calibri"/>
              </a:rPr>
              <a:t>L5 Graph Engineering（多 agent 拓扑）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651760"/>
            <a:ext cx="6949440" cy="38404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688336"/>
            <a:ext cx="65836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F0F0"/>
                </a:solidFill>
                <a:latin typeface="Calibri"/>
              </a:rPr>
              <a:t>L4 Loop Engineering（单 agent 循环）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3108960"/>
            <a:ext cx="6035040" cy="3840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3145536"/>
            <a:ext cx="56692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F0F0"/>
                </a:solidFill>
                <a:latin typeface="Calibri"/>
              </a:rPr>
              <a:t>L3 Harness Engineering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3566160"/>
            <a:ext cx="5120640" cy="3840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602736"/>
            <a:ext cx="47548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F0F0"/>
                </a:solidFill>
                <a:latin typeface="Calibri"/>
              </a:rPr>
              <a:t>L2 Context Engineering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4023360"/>
            <a:ext cx="4206240" cy="384048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4059936"/>
            <a:ext cx="3840479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F0F0"/>
                </a:solidFill>
                <a:latin typeface="Calibri"/>
              </a:rPr>
              <a:t>L1 Prompt Engineering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64608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F0F0"/>
                </a:solidFill>
                <a:latin typeface="Calibri"/>
              </a:rPr>
              <a:t>命名事件而非新发明——LangGraph / AutoGen / CrewAI 早已实践多年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37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AAAA"/>
                </a:solidFill>
                <a:latin typeface="Calibri"/>
              </a:rPr>
              <a:t>八斗学院出品|盗版必究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