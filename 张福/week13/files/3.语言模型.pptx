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63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62E4E"/>
          </a:solidFill>
          <a:ln w="12700">
            <a:solidFill>
              <a:srgbClr val="162E4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语言模型的发展脉络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9933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E86AB"/>
                </a:solidFill>
              </a:rPr>
              <a:t>Language Model Evolution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450592"/>
            <a:ext cx="411480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9C4DD"/>
                </a:solidFill>
              </a:rPr>
              <a:t>从 N-gram 到大语言模型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1920240" cy="457200"/>
          </a:xfrm>
          <a:prstGeom prst="rect">
            <a:avLst/>
          </a:prstGeom>
          <a:solidFill>
            <a:srgbClr val="1A3352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N-gram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0" y="374904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6AB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32888" y="3749040"/>
            <a:ext cx="1920240" cy="457200"/>
          </a:xfrm>
          <a:prstGeom prst="rect">
            <a:avLst/>
          </a:prstGeom>
          <a:solidFill>
            <a:srgbClr val="1A3352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532888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RNN / LSTM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53128" y="374904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6AB"/>
                </a:solidFill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08576" y="3749040"/>
            <a:ext cx="1920240" cy="457200"/>
          </a:xfrm>
          <a:prstGeom prst="rect">
            <a:avLst/>
          </a:prstGeom>
          <a:solidFill>
            <a:srgbClr val="1A3352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608576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BERT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28816" y="3749040"/>
            <a:ext cx="155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6AB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84264" y="3749040"/>
            <a:ext cx="192024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684264" y="3749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LLM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3251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</a:rPr>
              <a:t>自然语言处理课程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347472"/>
            <a:ext cx="54864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172200" y="3474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  N-gram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7040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C4DD"/>
                </a:solidFill>
              </a:rPr>
              <a:t>计数统计，马尔可夫假设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1170432"/>
            <a:ext cx="54864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172200" y="11704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  RNN/LSTM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1527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C4DD"/>
                </a:solidFill>
              </a:rPr>
              <a:t>神经网络，序列建模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1993392"/>
            <a:ext cx="54864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172200" y="19933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  BERT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72200" y="2350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C4DD"/>
                </a:solidFill>
              </a:rPr>
              <a:t>Transformer 预训练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2816352"/>
            <a:ext cx="54864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172200" y="28163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  LLM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72200" y="3172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C4DD"/>
                </a:solidFill>
              </a:rPr>
              <a:t>规模扩展，涌现能力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E86AB"/>
                </a:solidFill>
              </a:rPr>
              <a:t>01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传统语言模型 — N-gram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C4DD"/>
                </a:solidFill>
              </a:rPr>
              <a:t>基本原理  ·  计算方法  ·  平滑技术  ·  局限性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第一部分 · 传统语言模型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什么是语言模型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语言模型的定义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</a:rPr>
              <a:t>对文字序列赋予概率的数学模型，</a:t>
            </a: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solidFill>
                  <a:srgbClr val="2D2D2D"/>
                </a:solidFill>
              </a:rPr>
              <a:t>建模语言中词</a:t>
            </a:r>
            <a:r>
              <a:rPr lang="en-US" sz="1300" dirty="0" err="1">
                <a:solidFill>
                  <a:srgbClr val="FF0000"/>
                </a:solidFill>
              </a:rPr>
              <a:t>序列的合理程度</a:t>
            </a:r>
            <a:r>
              <a:rPr lang="zh-CN" altLang="en-US" sz="1300" dirty="0">
                <a:solidFill>
                  <a:srgbClr val="2D2D2D"/>
                </a:solidFill>
              </a:rPr>
              <a:t>，也叫成句概率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402336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</a:rPr>
              <a:t>P(w₁, w₂, …, wₙ)  = 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2651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核心能力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0175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2E86AB"/>
                </a:solidFill>
              </a:rPr>
              <a:t>下一词预测：</a:t>
            </a:r>
            <a:r>
              <a:rPr lang="en-US" sz="1300" dirty="0" err="1">
                <a:solidFill>
                  <a:srgbClr val="2D2D2D"/>
                </a:solidFill>
              </a:rPr>
              <a:t>今天天气</a:t>
            </a:r>
            <a:r>
              <a:rPr lang="en-US" sz="1300" dirty="0">
                <a:solidFill>
                  <a:srgbClr val="2D2D2D"/>
                </a:solidFill>
              </a:rPr>
              <a:t>___？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749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链式规则分解（基础）：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4041648"/>
            <a:ext cx="402336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02920" y="40416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P(w₁w₂w₃) = P(w₁)·P(w₂|w₁)·P(w₃|w₁w₂)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17720" y="1051560"/>
            <a:ext cx="0" cy="384048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800600" y="10972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实际应用场景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00600" y="1508760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800600" y="1508760"/>
            <a:ext cx="54864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919472" y="15544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</a:rPr>
              <a:t>搜索补全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19472" y="1810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输入「今天天气」→ 自动建议「今天天气怎么样」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167128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800600" y="2167128"/>
            <a:ext cx="54864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919472" y="22128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输入法联想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19472" y="2468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输入「我想」→ 推荐 吃饭 / 睡觉 / 出门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2825496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4800600" y="2825496"/>
            <a:ext cx="54864" cy="566928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919472" y="287121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720A"/>
                </a:solidFill>
              </a:rPr>
              <a:t>语音识别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19472" y="3127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区分「我去买菜」与「我去迈蔡」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483864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800600" y="3483864"/>
            <a:ext cx="54864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919472" y="35295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</a:rPr>
              <a:t>拼写纠错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919472" y="37856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检测 "teh cat"，建议 "the cat"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00600" y="4142232"/>
            <a:ext cx="3977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4800600" y="4142232"/>
            <a:ext cx="54864" cy="56692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4919472" y="41879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7B45"/>
                </a:solidFill>
              </a:rPr>
              <a:t>机器翻译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19472" y="44439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选择更流畅、更符合习惯的译文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第一部分 · 传统语言模型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N-gram 语言模型原理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① 链式规则展开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35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任意序列概率均可精确分解：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746504"/>
            <a:ext cx="402336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02920" y="174650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P(w_1...w_n) = ∏ P(w_i | w_1...w_i-1)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② 马尔可夫假设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6700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历史上下文太长难以统计，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近似：只看前 N-1 个词作为条件：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255264"/>
            <a:ext cx="402336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02920" y="32552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P(w_i|w_1...w_i-1) ≈ P(w_i|w_i-n+1...w_i-1)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3822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③ N-gram 频率估计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133088"/>
            <a:ext cx="4023360" cy="43891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02920" y="413308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</a:rPr>
              <a:t>P(w_i|ctx) = C(ctx, w_i) / C(ctx)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17720" y="1051560"/>
            <a:ext cx="0" cy="384048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800600" y="109728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N-gram 上下文窗口对比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5087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Unigram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8013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</a:rPr>
              <a:t>P(w_i)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1508760"/>
            <a:ext cx="566928" cy="530352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217920" y="150876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</a:rPr>
              <a:t>w_i-2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1508760"/>
            <a:ext cx="566928" cy="530352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903720" y="150876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</a:rPr>
              <a:t>w_i-1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589520" y="1508760"/>
            <a:ext cx="566928" cy="5303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589520" y="150876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w_i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4231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Bigram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27157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</a:rPr>
              <a:t>P(w_i | w_i-1)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2423160"/>
            <a:ext cx="566928" cy="530352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217920" y="242316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</a:rPr>
              <a:t>w_i-2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03720" y="2423160"/>
            <a:ext cx="566928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903720" y="242316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w_i-1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589520" y="2423160"/>
            <a:ext cx="566928" cy="5303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589520" y="242316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w_i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3375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Trigram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46320" y="36301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</a:rPr>
              <a:t>P(w_i | w_i-2,w_i-1)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17920" y="3337560"/>
            <a:ext cx="566928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217920" y="333756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w_i-2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903720" y="3337560"/>
            <a:ext cx="566928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6903720" y="333756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w_i-1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589520" y="3337560"/>
            <a:ext cx="566928" cy="5303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589520" y="333756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w_i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46320" y="4160520"/>
            <a:ext cx="256032" cy="219456"/>
          </a:xfrm>
          <a:prstGeom prst="rect">
            <a:avLst/>
          </a:prstGeom>
          <a:solidFill>
            <a:srgbClr val="E5E5E5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5138928" y="41605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未参与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897880" y="4160520"/>
            <a:ext cx="256032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190488" y="41605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上下文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49440" y="4160520"/>
            <a:ext cx="256032" cy="219456"/>
          </a:xfrm>
          <a:prstGeom prst="rect">
            <a:avLst/>
          </a:prstGeom>
          <a:solidFill>
            <a:srgbClr val="2E86AB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7242048" y="41605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</a:rPr>
              <a:t>预测词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第一部分 · 传统语言模型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N-gram 计算示例（Bigram）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语料库 (Corpus)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35608"/>
            <a:ext cx="4023360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02920" y="154533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 love NLP"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 love deep learning"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"NLP is fun"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267712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Bigram 计数表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4023360" cy="19202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前词 w₁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后词 w₂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次数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love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love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NLP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love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deep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NLP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is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deep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learning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is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fun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617720" y="1051560"/>
            <a:ext cx="0" cy="384048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4800600" y="10972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P( "I love NLP" ) = 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00600" y="15087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Step 1  链式规则展开：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00600" y="1801368"/>
            <a:ext cx="3977640" cy="43891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4937760" y="1801368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</a:rPr>
              <a:t>= P(I) · P(love|I) · P(NLP|love)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800600" y="23317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Step 2  Bigram 频率计算：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800600" y="2624328"/>
            <a:ext cx="3977640" cy="41148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4937760" y="262432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P(love | I) = 2/2 = 1.0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800600" y="3072384"/>
            <a:ext cx="3977640" cy="41148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4937760" y="3072384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P(NLP | love) = 1/2 = 0.5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00600" y="35844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Step 3  对比 P("I love math")：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800600" y="3877056"/>
            <a:ext cx="1920240" cy="804672"/>
          </a:xfrm>
          <a:prstGeom prst="rect">
            <a:avLst/>
          </a:prstGeom>
          <a:solidFill>
            <a:srgbClr val="EAF5EE"/>
          </a:solidFill>
          <a:ln w="1270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484632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7B45"/>
                </a:solidFill>
              </a:rPr>
              <a:t>"I love NLP"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846320" y="42245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7B45"/>
                </a:solidFill>
              </a:rPr>
              <a:t>P ≈ 0.5 × P(I)  ✓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812280" y="3877056"/>
            <a:ext cx="1920240" cy="80467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685800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</a:rPr>
              <a:t>"I love math"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858000" y="42245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</a:rPr>
              <a:t>P = 0  ✗（未见过）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第一部分 · 传统语言模型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平滑技术与 Python 实现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零概率问题（OOV Problem）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3560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训练集中未出现的词组合，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其计数 C = 0，导致整个句子概率为零：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066544"/>
            <a:ext cx="4023360" cy="411480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P("I love math") = P(I)· 1 · 0 = 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578608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拉普拉斯平滑（Add-1 Smoothing）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9169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为每个词组合计数 +1，避免零概率：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227832"/>
            <a:ext cx="402336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02920" y="32278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P(w_i|ctx) = (C(ctx,w_i)+1) / (C(ctx)+V)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794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</a:rPr>
              <a:t>Kneser-Ney 平滑（进阶）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09651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基于词的多样性（跟随不同上下文的次数）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进行折扣重分配，效果更好。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17720" y="1051560"/>
            <a:ext cx="0" cy="384048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Python 实现（Bigram + Laplace）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1417320"/>
            <a:ext cx="3977640" cy="3657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937760" y="1527048"/>
            <a:ext cx="370332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defaultdict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corpus = ["I love NLP",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 love deep learning",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"NLP is fun"]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cnt = defaultdict(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lambda: defaultdict(int))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 = defaultdict(int)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sent in corpus: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ws = sent.split()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i in range(len(ws)-1):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cnt[ws[i]][ws[i+1]] +=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w in ws: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uni[w] += 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len(uni)  # vocab size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P(w2, w1):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Laplace smoothed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(cnt[w1][w2]+1)/(uni[w1]+V)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print(P("NLP","love"))   # 0.22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print(P("math","love"))  # 0.11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第一部分 · 传统语言模型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N-gram 的局限性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023360" cy="1627632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4023360" cy="5486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数据稀疏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N 越大，词组合呈指数级增长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训练集难以覆盖所有词组合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大量 N-gram 的出现概率为零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1115568"/>
            <a:ext cx="3977640" cy="1627632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800600" y="1115568"/>
            <a:ext cx="397764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937760" y="12070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长距离依赖失效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57276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仅记忆前 N-1 个词，窗口固定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例：「那只在河边散步的 ___」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主谓跨度超过 N 时无法建模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07792"/>
            <a:ext cx="4023360" cy="1627632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2907792"/>
            <a:ext cx="4023360" cy="54864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02920" y="2999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720A"/>
                </a:solidFill>
              </a:rPr>
              <a:t>语义泛化弱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364992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基于字符串匹配，无语义理解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「猫吃鱼」≠「猫咪吃鱼」（概率无关）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同义词无法共享统计信息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2907792"/>
            <a:ext cx="3977640" cy="1627632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800600" y="2907792"/>
            <a:ext cx="3977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937760" y="299923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</a:rPr>
              <a:t>存储开销巨大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36499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存储量 O(Vᴺ)，随 V 指数增长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V=50,000 时 3-gram 约 125 亿条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大 N 时内存/磁盘无法承载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02920" y="4681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→ 下一部分：神经网络语言模型如何突破这些瓶颈？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E86AB"/>
                </a:solidFill>
              </a:rPr>
              <a:t>02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神经网络语言模型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C4DD"/>
                </a:solidFill>
              </a:rPr>
              <a:t>NNLM · RNN · LSTM · 困惑度评估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第二部分 · 神经网络语言模型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神经网络语言模型思路（NNLM）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N-gram 的核心缺陷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35608"/>
            <a:ext cx="4023360" cy="868680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字符串匹配</a:t>
            </a:r>
            <a:r>
              <a:rPr lang="en-US" sz="1200" dirty="0">
                <a:solidFill>
                  <a:srgbClr val="2D2D2D"/>
                </a:solidFill>
              </a:rPr>
              <a:t>：「猫吃鱼」和「猫咪吃鱼」被视为完全无关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数据稀疏</a:t>
            </a:r>
            <a:r>
              <a:rPr lang="en-US" sz="1200" dirty="0">
                <a:solidFill>
                  <a:srgbClr val="2D2D2D"/>
                </a:solidFill>
              </a:rPr>
              <a:t>：新词组合概率全为零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395728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NNLM 的解决方案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724912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6AB"/>
                </a:solidFill>
              </a:rPr>
              <a:t>词向量（Word Embedding）：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将每个词映射到连续稠密向量空间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E86AB"/>
                </a:solidFill>
              </a:rPr>
              <a:t>语义相似的词距离相近：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  「猫」≈「猫咪」  「跑步」≈「奔跑」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3703320"/>
            <a:ext cx="4023360" cy="43891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02920" y="37033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P(wₜ | ctx) = f(e(wₜ₋₁), e(wₜ₋₂), …)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2062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神经网络在嵌入空间学习语言规律（Bengio 2003）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051560"/>
            <a:ext cx="0" cy="384048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800600" y="10515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NNLM 架构示意（自底向上）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783080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6AB"/>
                </a:solidFill>
              </a:rPr>
              <a:t>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35000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6AB"/>
                </a:solidFill>
              </a:rPr>
              <a:t>↑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291693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6AB"/>
                </a:solidFill>
              </a:rPr>
              <a:t>↑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1371600"/>
            <a:ext cx="397764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892040" y="14081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输出层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14081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P(wₜ | context)  — Softmax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1938528"/>
            <a:ext cx="39776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892040" y="19751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隐藏层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19751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h = tanh(W · [e₁;e₂;e₃] + b)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505456"/>
            <a:ext cx="3977640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892040" y="25420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Embedding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25420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3A5F"/>
                </a:solidFill>
              </a:rPr>
              <a:t>[e(wₜ₋₂) ; e(wₜ₋₁) ; e(wₜ₋₁)]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072384"/>
            <a:ext cx="397764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892040" y="31089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</a:rPr>
              <a:t>输入层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31089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D2D2D"/>
                </a:solidFill>
              </a:rPr>
              <a:t>wₜ₋₂    wₜ₋₁    wₜ₋₁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35204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↑ 参数共享 + 语义泛化 → 突破数据稀疏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3931920"/>
            <a:ext cx="3977640" cy="868680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937760" y="39684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词向量空间示意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75120" y="396849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</a:rPr>
              <a:t>余弦相似度 ≈ 0.98  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4206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猫    → [0.8,  0.2, ...]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37760" y="44074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猫咪 → [0.79, 0.21, ...]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第二部分 · 神经网络语言模型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基于 RNN 的语言模型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RNN 展开示意（时序建模）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21488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t-1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90472" y="21488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96312" y="21488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t+1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" y="2807208"/>
            <a:ext cx="0" cy="713232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1810512" y="2807208"/>
            <a:ext cx="0" cy="713232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2816352" y="2807208"/>
            <a:ext cx="0" cy="713232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1124712" y="2615184"/>
            <a:ext cx="36576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380744" y="250545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6AB"/>
                </a:solidFill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30552" y="2615184"/>
            <a:ext cx="36576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2386584" y="250545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6AB"/>
                </a:solidFill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" y="2423160"/>
            <a:ext cx="6400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84632" y="24231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hₜ₋₁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90472" y="2423160"/>
            <a:ext cx="64008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490472" y="24231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496312" y="2423160"/>
            <a:ext cx="64008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2496312" y="24231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hₜ₊₁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" y="3520440"/>
            <a:ext cx="64008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84632" y="35204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</a:rPr>
              <a:t>xₜ₋₁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490472" y="3520440"/>
            <a:ext cx="64008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490472" y="35204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</a:rPr>
              <a:t>xₜ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496312" y="3520440"/>
            <a:ext cx="64008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2496312" y="35204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2D"/>
                </a:solidFill>
              </a:rPr>
              <a:t>xₜ₊₁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816352" y="1810512"/>
            <a:ext cx="0" cy="612648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1993392" y="1444752"/>
            <a:ext cx="164592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993392" y="14447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P(wₜ₊₁ | …)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0416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循环更新公式：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325112"/>
            <a:ext cx="4023360" cy="43891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02920" y="432511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hₜ = tanh(Wₓxₜ + Wₕhₜ₋₁ + b)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17720" y="1051560"/>
            <a:ext cx="0" cy="384048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800600" y="109728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对比 N-gram 的优势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00600" y="143560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6AB"/>
                </a:solidFill>
              </a:rPr>
              <a:t>无固定窗口：</a:t>
            </a:r>
            <a:r>
              <a:rPr lang="en-US" sz="1250" dirty="0">
                <a:solidFill>
                  <a:srgbClr val="2D2D2D"/>
                </a:solidFill>
              </a:rPr>
              <a:t>理论上利用任意长历史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E86AB"/>
                </a:solidFill>
              </a:rPr>
              <a:t>参数共享：</a:t>
            </a:r>
            <a:r>
              <a:rPr lang="en-US" sz="1250" dirty="0">
                <a:solidFill>
                  <a:srgbClr val="2D2D2D"/>
                </a:solidFill>
              </a:rPr>
              <a:t>同一权重处理所有时刻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2E86AB"/>
                </a:solidFill>
              </a:rPr>
              <a:t>语义泛化：</a:t>
            </a:r>
            <a:r>
              <a:rPr lang="en-US" sz="1250" dirty="0">
                <a:solidFill>
                  <a:srgbClr val="2D2D2D"/>
                </a:solidFill>
              </a:rPr>
              <a:t>词向量让近义词共享统计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800600" y="21579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PyTorch 实现（核心骨架）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00600" y="2468880"/>
            <a:ext cx="3977640" cy="234086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4937760" y="2578608"/>
            <a:ext cx="370332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torch.nn as nn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RNNLM(nn.Module):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 V, d, h):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super().__init__()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self.emb = nn.Embedding(V, 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self.rnn = nn.RNN(d, h,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batch_first=True)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self.fc  = nn.Linear(h, V)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forward(self, x):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 = self.emb(x)       # (B,T,d)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out,_ = self.rnn(e)   # (B,T,h)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self.fc(out)   # (B,T,V)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第二部分 · 神经网络语言模型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LSTM 语言模型实现与评估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PyTorch LSTM 语言模型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35608"/>
            <a:ext cx="4023360" cy="3639312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02920" y="1545336"/>
            <a:ext cx="3749040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LSTMLM(nn.Module):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__init__(self, V, d, h):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super().__init__()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self.emb  = nn.Embedding(V, 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self.lstm = nn.LSTM(d, h,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batch_first=True)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self.fc   = nn.Linear(h, V)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forward(self, x, hc=None):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 = self.emb(x)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out, hc = self.lstm(e, hc)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self.fc(out), hc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训练片段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LSTMLM(V=10000, d=128, h=256)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loss_fn = nn.CrossEntropyLoss()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pred, _ = model(x_batch)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loss_fn(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pred.view(-1, V),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y_batch.view(-1))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051560"/>
            <a:ext cx="0" cy="384048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800600" y="109728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困惑度（Perplexity）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4356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评估语言模型优劣的核心指标：PPL 越低越好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746504"/>
            <a:ext cx="397764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937760" y="174650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PPL = exp( −(1/N) Σ log P(wᵢ | ctx) 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2585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PPL = 10 ≈ 模型平均在 10 个词里猜对一个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6334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PPL 对比（Penn Treebank 数据集）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2944368"/>
          <a:ext cx="3977640" cy="117043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模型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上下文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PPL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N-gram (3)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2词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~500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RNN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理论无限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~200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17B45"/>
                          </a:solidFill>
                        </a:rPr>
                        <a:t>LSTM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较长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17B45"/>
                          </a:solidFill>
                        </a:rPr>
                        <a:t>~80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800600" y="416966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实际应用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00600" y="446227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</a:rPr>
              <a:t>Smart Compose：</a:t>
            </a:r>
            <a:r>
              <a:rPr lang="en-US" sz="1150" dirty="0">
                <a:solidFill>
                  <a:srgbClr val="2D2D2D"/>
                </a:solidFill>
              </a:rPr>
              <a:t>Gmail 自动续写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</a:rPr>
              <a:t>百度输入法：</a:t>
            </a:r>
            <a:r>
              <a:rPr lang="en-US" sz="1150" dirty="0">
                <a:solidFill>
                  <a:srgbClr val="2D2D2D"/>
                </a:solidFill>
              </a:rPr>
              <a:t>联想词推荐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</a:rPr>
              <a:t>神经机器翻译：</a:t>
            </a:r>
            <a:r>
              <a:rPr lang="en-US" sz="1150" dirty="0">
                <a:solidFill>
                  <a:srgbClr val="2D2D2D"/>
                </a:solidFill>
              </a:rPr>
              <a:t>seq2seq 编码端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第二部分 · 神经网络语言模型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三类语言模型综合对比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655570"/>
              </p:ext>
            </p:extLst>
          </p:nvPr>
        </p:nvGraphicFramePr>
        <p:xfrm>
          <a:off x="365760" y="1188720"/>
          <a:ext cx="8412480" cy="281635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特性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N-gram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RNN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LSTM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</a:rPr>
                        <a:t>上下文窗口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</a:rPr>
                        <a:t>固定 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 err="1">
                          <a:solidFill>
                            <a:srgbClr val="217B45"/>
                          </a:solidFill>
                        </a:rPr>
                        <a:t>较长</a:t>
                      </a:r>
                      <a:endParaRPr lang="en-US" altLang="zh-CN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17B45"/>
                          </a:solidFill>
                        </a:rPr>
                        <a:t>较长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</a:rPr>
                        <a:t>参数存储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</a:rPr>
                        <a:t>O(Vᴺ)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17B45"/>
                          </a:solidFill>
                        </a:rPr>
                        <a:t>小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17B45"/>
                          </a:solidFill>
                        </a:rPr>
                        <a:t>小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</a:rPr>
                        <a:t>语义泛化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17B45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17B45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</a:rPr>
                        <a:t>并行训练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17B45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</a:rPr>
                        <a:t>长距离依赖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弱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17B45"/>
                          </a:solidFill>
                        </a:rPr>
                        <a:t>较强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</a:rPr>
                        <a:t>典型 PPL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</a:rPr>
                        <a:t>~500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</a:rPr>
                        <a:t>~200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17B45"/>
                          </a:solidFill>
                        </a:rPr>
                        <a:t>~80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365760" y="4224528"/>
            <a:ext cx="8412480" cy="71323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48640" y="4270248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3A5F"/>
                </a:solidFill>
              </a:rPr>
              <a:t>LSTM 在长距离依赖和语义泛化上显著优于 N-gram，但仍存在顺序依赖、无法并行的瓶颈，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3A5F"/>
                </a:solidFill>
              </a:rPr>
              <a:t>促使研究者探索 Transformer 结构和预训练范式。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第二部分 · 神经网络语言模型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1E3A5F"/>
                </a:solidFill>
                <a:latin typeface="Malgun Gothic Semilight" panose="020B0502040204020203" pitchFamily="34" charset="-128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循环神经网络语言模型瓶颈</a:t>
            </a:r>
            <a:endParaRPr lang="en-US" sz="2600" dirty="0">
              <a:latin typeface="Malgun Gothic Semilight" panose="020B0502040204020203" pitchFamily="34" charset="-128"/>
              <a:ea typeface="Malgun Gothic Semilight" panose="020B0502040204020203" pitchFamily="34" charset="-128"/>
              <a:cs typeface="Malgun Gothic Semilight" panose="020B0502040204020203" pitchFamily="34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023360" cy="1627632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4023360" cy="5486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顺序计算，无法并行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RNN/LSTM 按时间步串行计算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长序列训练时间极长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GPU 并行加速无法充分利用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1115568"/>
            <a:ext cx="3977640" cy="1627632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800600" y="1115568"/>
            <a:ext cx="397764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937760" y="12070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仍有记忆衰减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57276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LSTM 改善了但未彻底解决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超长文档（&gt;1000词）效果下降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书籍级别语境无法有效利用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07792"/>
            <a:ext cx="4023360" cy="1627632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2907792"/>
            <a:ext cx="4023360" cy="54864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02920" y="2999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720A"/>
                </a:solidFill>
              </a:rPr>
              <a:t>迁移能力有限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364992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每个下游任务需从头训练模型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需要大量有标注训练数据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不同任务间知识无法复用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2907792"/>
            <a:ext cx="3977640" cy="1627632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800600" y="2907792"/>
            <a:ext cx="3977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937760" y="299923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</a:rPr>
              <a:t>参数利用率低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36499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模型容量受单向序列结构限制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无法同时利用左右两侧上下文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双向 LSTM 是折衷方案，代价高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02920" y="4681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→ 下一部分：预训练语言模型如何用 Transformer 突破这些限制？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E86AB"/>
                </a:solidFill>
              </a:rPr>
              <a:t>03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预训练语言模型 — BERT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C4DD"/>
                </a:solidFill>
              </a:rPr>
              <a:t>预训练思想 · BERT架构 · MLM/NSP · Embedding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第三部分 · 预训练语言模型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预训练思想与迁移学习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迁移学习：以 CV 经验为例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35608"/>
            <a:ext cx="4023360" cy="658368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ImageNet 大规模预训练 → 迁移各类视觉任务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微调只需少量标注数据即可取得好效果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NLP 的困境（BERT 之前）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50545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每个任务从头训练，依赖大量标注数据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词向量静态，无法感知上下文语义变化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任务间知识无法复用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2369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预训练 + 微调范式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123444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65760" y="35661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大规模语料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预训练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00200" y="3767328"/>
            <a:ext cx="137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6AB"/>
                </a:solidFill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737360" y="3566160"/>
            <a:ext cx="1234440" cy="6400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737360" y="35661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通用语言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知识模型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71800" y="3767328"/>
            <a:ext cx="137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6AB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08960" y="3566160"/>
            <a:ext cx="1234440" cy="64008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3108960" y="35661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少量标注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任务微调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297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无需标注即可学习通用语言知识（自监督学习）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1051560"/>
            <a:ext cx="0" cy="384048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800600" y="109728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NLP 预训练演进路径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1444752"/>
            <a:ext cx="3977640" cy="566928"/>
          </a:xfrm>
          <a:prstGeom prst="rect">
            <a:avLst/>
          </a:prstGeom>
          <a:solidFill>
            <a:srgbClr val="F8FBFD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800600" y="1444752"/>
            <a:ext cx="54864" cy="566928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892040" y="149961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</a:rPr>
              <a:t>2013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17190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Word2Vec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943600" y="153619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静态词向量，分布式表示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201168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2231136"/>
            <a:ext cx="3977640" cy="566928"/>
          </a:xfrm>
          <a:prstGeom prst="rect">
            <a:avLst/>
          </a:prstGeom>
          <a:solidFill>
            <a:srgbClr val="F8FBFD"/>
          </a:solidFill>
          <a:ln w="12700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800600" y="2231136"/>
            <a:ext cx="54864" cy="566928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892040" y="228600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720A"/>
                </a:solidFill>
              </a:rPr>
              <a:t>2018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25054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ELMo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943600" y="232257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动态词向量，双向 LSTM 编码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279806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00600" y="3017520"/>
            <a:ext cx="3977640" cy="566928"/>
          </a:xfrm>
          <a:prstGeom prst="rect">
            <a:avLst/>
          </a:prstGeom>
          <a:solidFill>
            <a:srgbClr val="F8FBFD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4800600" y="3017520"/>
            <a:ext cx="54864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4892040" y="307238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</a:rPr>
              <a:t>2018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3291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GPT-1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943600" y="31089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Transformer 解码器，单向 LM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00600" y="358444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↓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00600" y="3803904"/>
            <a:ext cx="3977640" cy="566928"/>
          </a:xfrm>
          <a:prstGeom prst="rect">
            <a:avLst/>
          </a:prstGeom>
          <a:solidFill>
            <a:srgbClr val="EBF4FA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4800600" y="3803904"/>
            <a:ext cx="54864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4892040" y="385876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2018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92040" y="40782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BERT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943600" y="389534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</a:rPr>
              <a:t>双向 Transformer 编码器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第三部分 · 预训练语言模型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BERT 概览与影响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2336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AB"/>
                </a:solidFill>
              </a:rPr>
              <a:t>BERT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0972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Bidirectional Encoder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Representations from Transformers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核心创新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093976"/>
            <a:ext cx="4023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双向上下文：</a:t>
            </a:r>
            <a:r>
              <a:rPr lang="en-US" sz="1200" dirty="0">
                <a:solidFill>
                  <a:srgbClr val="2D2D2D"/>
                </a:solidFill>
              </a:rPr>
              <a:t>同时利用左侧和右侧词的语义信息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预训练 + 微调：</a:t>
            </a:r>
            <a:r>
              <a:rPr lang="en-US" sz="1200" dirty="0">
                <a:solidFill>
                  <a:srgbClr val="2D2D2D"/>
                </a:solidFill>
              </a:rPr>
              <a:t>通用模型 + 轻量任务适配头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规模优势：</a:t>
            </a:r>
            <a:r>
              <a:rPr lang="en-US" sz="1200" dirty="0">
                <a:solidFill>
                  <a:srgbClr val="2D2D2D"/>
                </a:solidFill>
              </a:rPr>
              <a:t>亿级参数，海量语料预训练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0540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两阶段范式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383280"/>
            <a:ext cx="192024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65760" y="34290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Pre-training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730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C4DD"/>
                </a:solidFill>
              </a:rPr>
              <a:t>海量无标注语料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9C4DD"/>
                </a:solidFill>
              </a:rPr>
              <a:t>(Wikipedia + BookCorpus)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0" y="363931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86AB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468880" y="3383280"/>
            <a:ext cx="1920240" cy="8046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468880" y="34290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Fine-tuning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3730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BF4FA"/>
                </a:solidFill>
              </a:rPr>
              <a:t>下游任务少量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BF4FA"/>
                </a:solidFill>
              </a:rPr>
              <a:t>标注数据适配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1051560"/>
            <a:ext cx="0" cy="384048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800600" y="10972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模型规模对比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408176"/>
          <a:ext cx="3977640" cy="90525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配置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层数 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隐层 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头数 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参数量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BERT-base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768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110M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17B45"/>
                          </a:solidFill>
                        </a:rPr>
                        <a:t>BERT-large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17B45"/>
                          </a:solidFill>
                        </a:rPr>
                        <a:t>24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17B45"/>
                          </a:solidFill>
                        </a:rPr>
                        <a:t>1024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17B45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17B45"/>
                          </a:solidFill>
                        </a:rPr>
                        <a:t>340M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800600" y="23957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发布后刷新 11 项 NLP 任务 SOTA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800600" y="2743200"/>
            <a:ext cx="1234440" cy="32004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4800600" y="27432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AB"/>
                </a:solidFill>
              </a:rPr>
              <a:t>MNLI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126480" y="2743200"/>
            <a:ext cx="1234440" cy="320040"/>
          </a:xfrm>
          <a:prstGeom prst="rect">
            <a:avLst/>
          </a:prstGeom>
          <a:solidFill>
            <a:srgbClr val="EBF4F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6126480" y="27432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QQP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452360" y="2743200"/>
            <a:ext cx="1234440" cy="320040"/>
          </a:xfrm>
          <a:prstGeom prst="rect">
            <a:avLst/>
          </a:prstGeom>
          <a:solidFill>
            <a:srgbClr val="EBF4FA"/>
          </a:solidFill>
          <a:ln w="12700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7452360" y="27432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720A"/>
                </a:solidFill>
              </a:rPr>
              <a:t>QNLI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800600" y="3127248"/>
            <a:ext cx="1234440" cy="320040"/>
          </a:xfrm>
          <a:prstGeom prst="rect">
            <a:avLst/>
          </a:prstGeom>
          <a:solidFill>
            <a:srgbClr val="EBF4FA"/>
          </a:solidFill>
          <a:ln w="1270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4800600" y="31272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7B45"/>
                </a:solidFill>
              </a:rPr>
              <a:t>SQuAD 1.1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126480" y="3127248"/>
            <a:ext cx="1234440" cy="32004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9"/>
          <p:cNvSpPr/>
          <p:nvPr/>
        </p:nvSpPr>
        <p:spPr>
          <a:xfrm>
            <a:off x="6126480" y="31272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AB"/>
                </a:solidFill>
              </a:rPr>
              <a:t>SQuAD 2.0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452360" y="3127248"/>
            <a:ext cx="1234440" cy="320040"/>
          </a:xfrm>
          <a:prstGeom prst="rect">
            <a:avLst/>
          </a:prstGeom>
          <a:solidFill>
            <a:srgbClr val="EBF4F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1"/>
          <p:cNvSpPr/>
          <p:nvPr/>
        </p:nvSpPr>
        <p:spPr>
          <a:xfrm>
            <a:off x="7452360" y="31272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SWAG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800600" y="35844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实际应用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800600" y="3877056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</a:rPr>
              <a:t>Google 搜索：</a:t>
            </a:r>
            <a:r>
              <a:rPr lang="en-US" sz="1150" dirty="0">
                <a:solidFill>
                  <a:srgbClr val="2D2D2D"/>
                </a:solidFill>
              </a:rPr>
              <a:t>自 2019 年全面使用 BERT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</a:rPr>
              <a:t>智能客服：</a:t>
            </a:r>
            <a:r>
              <a:rPr lang="en-US" sz="1150" dirty="0">
                <a:solidFill>
                  <a:srgbClr val="2D2D2D"/>
                </a:solidFill>
              </a:rPr>
              <a:t>意图识别与答案抽取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</a:rPr>
              <a:t>情感分析：</a:t>
            </a:r>
            <a:r>
              <a:rPr lang="en-US" sz="1150" dirty="0">
                <a:solidFill>
                  <a:srgbClr val="2D2D2D"/>
                </a:solidFill>
              </a:rPr>
              <a:t>电商评论、社交媒体舆情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第三部分 · 预训练语言模型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预训练任务一：Masked Language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任务设计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2646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随机遮盖输入序列中 15% 的 Token，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让模型预测被遮盖的原始词：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402336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输入：我  喜欢  [MASK]  苹果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677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7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目标：预测 [MASK] = 「吃」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遮盖策略（15% Token 中）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944368"/>
            <a:ext cx="566928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65760" y="294436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9900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替换为 [MASK]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3419856"/>
            <a:ext cx="566928" cy="384048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65760" y="341985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34655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替换为随机词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3895344"/>
            <a:ext cx="566928" cy="38404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365760" y="389534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94106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保持原词不变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" y="44074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避免模型「只认识 [MASK]」，增强泛化能力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1051560"/>
            <a:ext cx="0" cy="384048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800600" y="109728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双向 vs 单向：为何 BERT 更好？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14356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GPT（单向 LM）：逐词从左预测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1746504"/>
            <a:ext cx="3977640" cy="475488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937760" y="17647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  喜欢  ___  苹果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19933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</a:rPr>
              <a:t>→→→（只看左侧）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23042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BERT（双向 MLM）：利用完整上下文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2615184"/>
            <a:ext cx="3977640" cy="47548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937760" y="26334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  喜欢  [MASK]  苹果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28620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</a:rPr>
              <a:t>← 同时关注左右两侧上下文 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32004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双向上下文的优势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00600" y="352044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多义词消歧：</a:t>
            </a:r>
            <a:r>
              <a:rPr lang="en-US" sz="1200" dirty="0">
                <a:solidFill>
                  <a:srgbClr val="2D2D2D"/>
                </a:solidFill>
              </a:rPr>
              <a:t>「银行」在不同语境下有不同向量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长距离依赖：</a:t>
            </a:r>
            <a:r>
              <a:rPr lang="en-US" sz="1200" dirty="0">
                <a:solidFill>
                  <a:srgbClr val="2D2D2D"/>
                </a:solidFill>
              </a:rPr>
              <a:t>主语和谓语无论距离多远均可关联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丰富语义：</a:t>
            </a:r>
            <a:r>
              <a:rPr lang="en-US" sz="1200" dirty="0">
                <a:solidFill>
                  <a:srgbClr val="2D2D2D"/>
                </a:solidFill>
              </a:rPr>
              <a:t>综合前后词意获得更准确表示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第三部分 · 预训练语言模型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预训练任务二：Next Sentence Prediction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任务设计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2646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给定两个句子，判断 B 是否是 A 的下一句。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训练时 50% 正例（真实相邻句），50% 负例：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048256"/>
            <a:ext cx="4023360" cy="731520"/>
          </a:xfrm>
          <a:prstGeom prst="rect">
            <a:avLst/>
          </a:prstGeom>
          <a:solidFill>
            <a:srgbClr val="EAF5EE"/>
          </a:solidFill>
          <a:ln w="1270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</a:rPr>
              <a:t>IsNext（正例）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134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A：今天天气很好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B：我们去公园散步吧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852928"/>
            <a:ext cx="4023360" cy="73152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02920" y="28895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NotNext（负例，随机替换）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1181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A：今天天气很好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3192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B：量子力学起源于20世纪初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36758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NSP 帮助模型理解句子间逻辑关系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023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NSP 支持的下游任务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5760" y="433425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问答（QA）：问题与候选段落的匹配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自然语言推理：前提与假设是否蕴含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1051560"/>
            <a:ext cx="0" cy="384048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4800600" y="109728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BERT 输入格式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142646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将两句拼接后送入模型，用特殊 Token 分隔：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1755648"/>
            <a:ext cx="3977640" cy="420624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937760" y="186537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[CLS] Sentence_A [SEP] Sentence_B [SEP]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00600" y="22677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特殊 Token 的作用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2596896"/>
            <a:ext cx="3977640" cy="566928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846320" y="2688336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[CLS]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87568" y="2670048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句对分类的汇聚表示，NSP 预测由它输出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00600" y="3255264"/>
            <a:ext cx="3977640" cy="566928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846320" y="3346704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[SEP]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87568" y="332841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句子边界分隔符，区分 Sentence A 与 B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00600" y="4023360"/>
            <a:ext cx="3977640" cy="8046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937760" y="405993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BERT 同时优化两个预训练目标：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432511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MLM Loss  +  NSP Loss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第三部分 · 预训练语言模型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BERT 整体模型结构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E3A5F"/>
                </a:solidFill>
              </a:rPr>
              <a:t>模型架构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402336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02920" y="14904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2D2D"/>
                </a:solidFill>
              </a:rPr>
              <a:t>输入 Token 序列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分词后的 WordPiece Token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502920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02920" y="2194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Embedding Layer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Token + Position + Segment 相加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4023360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02920" y="2898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Transformer Block × 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31272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C4DD"/>
                </a:solidFill>
              </a:rPr>
              <a:t>Self-Attention + FFN (堆叠 L 层)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557016"/>
            <a:ext cx="402336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02920" y="36027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输出表示向量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38313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C4DD"/>
                </a:solidFill>
              </a:rPr>
              <a:t>每个 Token 对应上下文表示向量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 rot="10800000">
            <a:off x="365760" y="19476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</a:rPr>
              <a:t>↑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 rot="10800000">
            <a:off x="365760" y="26517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</a:rPr>
              <a:t>↑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 rot="10800000">
            <a:off x="365760" y="33558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</a:rPr>
              <a:t>↑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133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输出用于不同下游任务（分类、问答、NER…）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1051560"/>
            <a:ext cx="0" cy="384048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800600" y="10972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关键超参数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408176"/>
          <a:ext cx="3977640" cy="1810512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参数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BERT-base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BERT-large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层数 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17B45"/>
                          </a:solidFill>
                        </a:rPr>
                        <a:t>24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隐层维度 H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768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17B45"/>
                          </a:solidFill>
                        </a:rPr>
                        <a:t>1024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注意力头 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17B45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FFN 维度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3072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17B45"/>
                          </a:solidFill>
                        </a:rPr>
                        <a:t>4096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总参数量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</a:rPr>
                        <a:t>110M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17B45"/>
                          </a:solidFill>
                        </a:rPr>
                        <a:t>340M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4800600" y="33467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输出表示的用途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800600" y="365760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[CLS] 向量：</a:t>
            </a:r>
            <a:r>
              <a:rPr lang="en-US" sz="1200" dirty="0">
                <a:solidFill>
                  <a:srgbClr val="2D2D2D"/>
                </a:solidFill>
              </a:rPr>
              <a:t>句子级分类（情感分析等）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Token 向量：</a:t>
            </a:r>
            <a:r>
              <a:rPr lang="en-US" sz="1200" dirty="0">
                <a:solidFill>
                  <a:srgbClr val="2D2D2D"/>
                </a:solidFill>
              </a:rPr>
              <a:t>序列标注（NER、QA 答案抽取）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第三部分 · 预训练语言模型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BERT Embedding 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三种 Embedding 相加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35608"/>
            <a:ext cx="4023360" cy="694944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65760" y="1435608"/>
            <a:ext cx="54864" cy="69494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02920" y="14996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Token Embedding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将每个 WordPiece Token 映射到稠密向量（词表约 30K）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4023360" cy="694944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54864" cy="694944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02920" y="2304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20A"/>
                </a:solidFill>
              </a:rPr>
              <a:t>Position Embedding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5877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可学习的位置编码（非 sin/cos），表示 Token 在序列中的位置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044952"/>
            <a:ext cx="4023360" cy="694944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65760" y="3044952"/>
            <a:ext cx="54864" cy="69494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02920" y="3108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7B45"/>
                </a:solidFill>
              </a:rPr>
              <a:t>Segment Embedding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39242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区分句子 A（EA）和句子 B（EB），用于 NSP 任务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4023360" cy="43891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02920" y="38862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</a:rPr>
              <a:t>e = e_token  +  e_position  +  e_segment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17720" y="1051560"/>
            <a:ext cx="0" cy="384048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800600" y="10972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输入示意（5 个 Token）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92040" y="1426464"/>
            <a:ext cx="6858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892040" y="142646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[CLS]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1426464"/>
            <a:ext cx="6858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577840" y="142646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我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1426464"/>
            <a:ext cx="6858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263640" y="142646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爱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49440" y="1426464"/>
            <a:ext cx="6858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949440" y="142646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[SEP]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35240" y="1426464"/>
            <a:ext cx="6858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7635240" y="1426464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</a:rPr>
              <a:t>NLP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18013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</a:rPr>
              <a:t>Token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</a:rPr>
              <a:t>Emb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92040" y="1801368"/>
            <a:ext cx="685800" cy="384048"/>
          </a:xfrm>
          <a:prstGeom prst="rect">
            <a:avLst/>
          </a:prstGeom>
          <a:solidFill>
            <a:srgbClr val="D6EAF8"/>
          </a:solidFill>
          <a:ln w="952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4892040" y="180136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</a:rPr>
              <a:t>v1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77840" y="1801368"/>
            <a:ext cx="685800" cy="384048"/>
          </a:xfrm>
          <a:prstGeom prst="rect">
            <a:avLst/>
          </a:prstGeom>
          <a:solidFill>
            <a:srgbClr val="D6EAF8"/>
          </a:solidFill>
          <a:ln w="952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577840" y="180136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</a:rPr>
              <a:t>v2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63640" y="1801368"/>
            <a:ext cx="685800" cy="384048"/>
          </a:xfrm>
          <a:prstGeom prst="rect">
            <a:avLst/>
          </a:prstGeom>
          <a:solidFill>
            <a:srgbClr val="D6EAF8"/>
          </a:solidFill>
          <a:ln w="952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263640" y="180136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</a:rPr>
              <a:t>v3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949440" y="1801368"/>
            <a:ext cx="685800" cy="384048"/>
          </a:xfrm>
          <a:prstGeom prst="rect">
            <a:avLst/>
          </a:prstGeom>
          <a:solidFill>
            <a:srgbClr val="D6EAF8"/>
          </a:solidFill>
          <a:ln w="952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6949440" y="180136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</a:rPr>
              <a:t>v4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635240" y="1801368"/>
            <a:ext cx="685800" cy="384048"/>
          </a:xfrm>
          <a:prstGeom prst="rect">
            <a:avLst/>
          </a:prstGeom>
          <a:solidFill>
            <a:srgbClr val="D6EAF8"/>
          </a:solidFill>
          <a:ln w="9525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7635240" y="180136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</a:rPr>
              <a:t>v5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00600" y="223113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</a:rPr>
              <a:t>Position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</a:rPr>
              <a:t>Emb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92040" y="2231136"/>
            <a:ext cx="685800" cy="384048"/>
          </a:xfrm>
          <a:prstGeom prst="rect">
            <a:avLst/>
          </a:prstGeom>
          <a:solidFill>
            <a:srgbClr val="FFF3E0"/>
          </a:solidFill>
          <a:ln w="9525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4892040" y="223113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</a:rPr>
              <a:t>p0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577840" y="2231136"/>
            <a:ext cx="685800" cy="384048"/>
          </a:xfrm>
          <a:prstGeom prst="rect">
            <a:avLst/>
          </a:prstGeom>
          <a:solidFill>
            <a:srgbClr val="FFF3E0"/>
          </a:solidFill>
          <a:ln w="9525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5577840" y="223113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</a:rPr>
              <a:t>p1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63640" y="2231136"/>
            <a:ext cx="685800" cy="384048"/>
          </a:xfrm>
          <a:prstGeom prst="rect">
            <a:avLst/>
          </a:prstGeom>
          <a:solidFill>
            <a:srgbClr val="FFF3E0"/>
          </a:solidFill>
          <a:ln w="9525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6263640" y="223113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</a:rPr>
              <a:t>p2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949440" y="2231136"/>
            <a:ext cx="685800" cy="384048"/>
          </a:xfrm>
          <a:prstGeom prst="rect">
            <a:avLst/>
          </a:prstGeom>
          <a:solidFill>
            <a:srgbClr val="FFF3E0"/>
          </a:solidFill>
          <a:ln w="9525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6949440" y="223113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</a:rPr>
              <a:t>p3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635240" y="2231136"/>
            <a:ext cx="685800" cy="384048"/>
          </a:xfrm>
          <a:prstGeom prst="rect">
            <a:avLst/>
          </a:prstGeom>
          <a:solidFill>
            <a:srgbClr val="FFF3E0"/>
          </a:solidFill>
          <a:ln w="9525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7635240" y="223113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</a:rPr>
              <a:t>p4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800600" y="26609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</a:rPr>
              <a:t>Segment</a:t>
            </a: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</a:rPr>
              <a:t>Emb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92040" y="2660904"/>
            <a:ext cx="685800" cy="384048"/>
          </a:xfrm>
          <a:prstGeom prst="rect">
            <a:avLst/>
          </a:prstGeom>
          <a:solidFill>
            <a:srgbClr val="E9F7EF"/>
          </a:solidFill>
          <a:ln w="9525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4892040" y="266090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</a:rPr>
              <a:t>sA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577840" y="2660904"/>
            <a:ext cx="685800" cy="384048"/>
          </a:xfrm>
          <a:prstGeom prst="rect">
            <a:avLst/>
          </a:prstGeom>
          <a:solidFill>
            <a:srgbClr val="E9F7EF"/>
          </a:solidFill>
          <a:ln w="9525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5577840" y="266090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</a:rPr>
              <a:t>sA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263640" y="2660904"/>
            <a:ext cx="685800" cy="384048"/>
          </a:xfrm>
          <a:prstGeom prst="rect">
            <a:avLst/>
          </a:prstGeom>
          <a:solidFill>
            <a:srgbClr val="E9F7EF"/>
          </a:solidFill>
          <a:ln w="9525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6263640" y="266090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</a:rPr>
              <a:t>sA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949440" y="2660904"/>
            <a:ext cx="685800" cy="384048"/>
          </a:xfrm>
          <a:prstGeom prst="rect">
            <a:avLst/>
          </a:prstGeom>
          <a:solidFill>
            <a:srgbClr val="E9F7EF"/>
          </a:solidFill>
          <a:ln w="9525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6949440" y="266090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</a:rPr>
              <a:t>sA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635240" y="2660904"/>
            <a:ext cx="685800" cy="384048"/>
          </a:xfrm>
          <a:prstGeom prst="rect">
            <a:avLst/>
          </a:prstGeom>
          <a:solidFill>
            <a:srgbClr val="FCF3CF"/>
          </a:solidFill>
          <a:ln w="9525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7635240" y="266090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2D2D"/>
                </a:solidFill>
              </a:rPr>
              <a:t>sB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800600" y="31089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AB"/>
                </a:solidFill>
              </a:rPr>
              <a:t>⊕ （逐元素相加）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892040" y="3410712"/>
            <a:ext cx="342900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4892040" y="34107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最终 Embedding（送入 Transformer Block）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800600" y="384048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[CLS]：汇聚整个句子的语义，用于分类任务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[SEP]：标记句子边界，区分句子 A / B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E86AB"/>
                </a:solidFill>
              </a:rPr>
              <a:t>第三部分 · 深入篇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80467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BERT 内部：Transformer 结构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046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C4DD"/>
                </a:solidFill>
              </a:rPr>
              <a:t>Self-Attention · Multi-Head · FFN · 残差连接 · 微调范式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第三部分 · BERT Transformer 结构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Transformer Block 总览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单个 Block 结构（自底向上）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40233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365760" y="1444752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</a:rPr>
              <a:t>输入向量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402336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Multi-Head Self-Attention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4023360" cy="32918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65760" y="2468880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Add &amp; LayerNorm  （残差①）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935224"/>
            <a:ext cx="402336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65760" y="2935224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Feed-Forward Network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529584"/>
            <a:ext cx="4023360" cy="32918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65760" y="3529584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Add &amp; LayerNorm  （残差②）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995928"/>
            <a:ext cx="40233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65760" y="3995928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</a:rPr>
              <a:t>输出向量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377440" y="1737360"/>
            <a:ext cx="0" cy="13716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2377440" y="2331720"/>
            <a:ext cx="0" cy="13716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2377440" y="2798064"/>
            <a:ext cx="0" cy="13716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2377440" y="3392424"/>
            <a:ext cx="0" cy="13716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2377440" y="3858768"/>
            <a:ext cx="0" cy="137160"/>
          </a:xfrm>
          <a:prstGeom prst="line">
            <a:avLst/>
          </a:prstGeom>
          <a:noFill/>
          <a:ln w="1524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617720" y="1051560"/>
            <a:ext cx="0" cy="384048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800600" y="109728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残差连接（Residual Connection）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1408176"/>
            <a:ext cx="3977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每个子层（MHA、FFN）的输出与输入相加再归一化：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1792224"/>
            <a:ext cx="3977640" cy="43891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937760" y="1792224"/>
            <a:ext cx="37033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</a:rPr>
              <a:t>Output = LayerNorm( x + Sublayer(x) 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800600" y="2322576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避免梯度消失：</a:t>
            </a:r>
            <a:r>
              <a:rPr lang="en-US" sz="1200" dirty="0">
                <a:solidFill>
                  <a:srgbClr val="2D2D2D"/>
                </a:solidFill>
              </a:rPr>
              <a:t>允许堆叠 12/24 层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恒等映射：</a:t>
            </a:r>
            <a:r>
              <a:rPr lang="en-US" sz="1200" dirty="0">
                <a:solidFill>
                  <a:srgbClr val="2D2D2D"/>
                </a:solidFill>
              </a:rPr>
              <a:t>最坏情况学习恒等函数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3072384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层归一化（Layer Normalization）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00600" y="3383280"/>
            <a:ext cx="3977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对每个位置的激活值独立归一化，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稳定训练过程，使深层网络收敛更快：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00600" y="3986784"/>
            <a:ext cx="3977640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937760" y="3986784"/>
            <a:ext cx="37033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3A5F"/>
                </a:solidFill>
              </a:rPr>
              <a:t>LN(x) = (x − μ) / σ · γ + β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第三部分 · BERT Transformer 结构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Attention 张量维度变化详解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逐步维度变化（BERT-base 示例，L=128）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408176"/>
            <a:ext cx="4023360" cy="676656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65760" y="1408176"/>
            <a:ext cx="274320" cy="67665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65760" y="1408176"/>
            <a:ext cx="2743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944" y="1463040"/>
            <a:ext cx="3639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</a:rPr>
              <a:t>输入序列 X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94944" y="1700784"/>
            <a:ext cx="36393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shape: L × d_model  （128 × 768）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" y="1920240"/>
            <a:ext cx="36393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每个 Token 用 768 维向量表示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139696"/>
            <a:ext cx="4023360" cy="822960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2139696"/>
            <a:ext cx="274320" cy="82296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65760" y="2139696"/>
            <a:ext cx="274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944" y="2194560"/>
            <a:ext cx="3639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720A"/>
                </a:solidFill>
              </a:rPr>
              <a:t>线性投影 → Q / K / V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94944" y="2432304"/>
            <a:ext cx="36393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shape: L × d_k  （128 × 64）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" y="2651760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各乘权重矩阵 W_Q / W_K / W_V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d_k = d_model / h = 768 / 12 = 64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4023360" cy="1042416"/>
          </a:xfrm>
          <a:prstGeom prst="rect">
            <a:avLst/>
          </a:prstGeom>
          <a:solidFill>
            <a:srgbClr val="FFF4F4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274320" cy="10424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65760" y="3017520"/>
            <a:ext cx="274320" cy="10424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③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" y="3072384"/>
            <a:ext cx="3639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</a:rPr>
              <a:t>Q × Kᵀ  = 注意力分数矩阵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4944" y="3310128"/>
            <a:ext cx="36393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Scores  shape: L × L  （128 × 128）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" y="3529584"/>
            <a:ext cx="363931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（L×d_k）×（d_k×L）= L×L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每行 i = Token i 对所有 Token 的相关性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逐行 Softmax → 每行之和 = 1（权重分布）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114800"/>
            <a:ext cx="4023360" cy="676656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65760" y="4114800"/>
            <a:ext cx="274320" cy="676656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365760" y="4114800"/>
            <a:ext cx="27432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④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" y="4169664"/>
            <a:ext cx="36393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7B45"/>
                </a:solidFill>
              </a:rPr>
              <a:t>加权汇聚输出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94944" y="4407408"/>
            <a:ext cx="363931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Output  shape: L × d_k  （128 × 64）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" y="4626864"/>
            <a:ext cx="36393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</a:rPr>
              <a:t>Weights（L×L） × V（L×d_k）= L×d_k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17720" y="1051560"/>
            <a:ext cx="0" cy="384048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800600" y="1097280"/>
            <a:ext cx="3977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矩阵形状可视化（比例示意）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800600" y="1408176"/>
            <a:ext cx="420624" cy="1280160"/>
          </a:xfrm>
          <a:prstGeom prst="rect">
            <a:avLst/>
          </a:prstGeom>
          <a:solidFill>
            <a:srgbClr val="D5EEF8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800600" y="1408176"/>
            <a:ext cx="420624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86AB"/>
                </a:solidFill>
              </a:rPr>
              <a:t>Q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76088" y="1911096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2D2D"/>
                </a:solidFill>
              </a:rPr>
              <a:t>×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513832" y="1408176"/>
            <a:ext cx="1280160" cy="420624"/>
          </a:xfrm>
          <a:prstGeom prst="rect">
            <a:avLst/>
          </a:prstGeom>
          <a:solidFill>
            <a:srgbClr val="FFE8CC"/>
          </a:solidFill>
          <a:ln w="19050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5513832" y="1408176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720A"/>
                </a:solidFill>
              </a:rPr>
              <a:t>Kᵀ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48856" y="1911096"/>
            <a:ext cx="2011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2D2D"/>
                </a:solidFill>
              </a:rPr>
              <a:t>=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086600" y="1408176"/>
            <a:ext cx="1280160" cy="1280160"/>
          </a:xfrm>
          <a:prstGeom prst="rect">
            <a:avLst/>
          </a:prstGeom>
          <a:solidFill>
            <a:srgbClr val="FDECEA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7086600" y="1408176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</a:rPr>
              <a:t>Scores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</a:rPr>
              <a:t>  L × 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00016" y="2761488"/>
            <a:ext cx="58521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86AB"/>
                </a:solidFill>
              </a:rPr>
              <a:t>L×d_k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513832" y="276148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4720A"/>
                </a:solidFill>
              </a:rPr>
              <a:t>d_k×L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086600" y="276148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</a:rPr>
              <a:t>L×L  (128×128)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00600" y="3054096"/>
            <a:ext cx="3977640" cy="402336"/>
          </a:xfrm>
          <a:prstGeom prst="rect">
            <a:avLst/>
          </a:prstGeom>
          <a:solidFill>
            <a:srgbClr val="FFF4F4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4919472" y="3054096"/>
            <a:ext cx="3749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逐行 Softmax( Scores / √d_k )  →  Weights: L×L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00600" y="3529584"/>
            <a:ext cx="3977640" cy="402336"/>
          </a:xfrm>
          <a:prstGeom prst="rect">
            <a:avLst/>
          </a:prstGeom>
          <a:solidFill>
            <a:srgbClr val="EAF5EE"/>
          </a:solidFill>
          <a:ln w="1270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4919472" y="3529584"/>
            <a:ext cx="3749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</a:rPr>
              <a:t>Weights( L×L )  ×  V( L×d_k )  →  Output: L×d_k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00600" y="4005072"/>
            <a:ext cx="3977640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4919472" y="4005072"/>
            <a:ext cx="37490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输入 / 输出形状均为 L×d_k，可安全堆叠多层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第三部分 · BERT Transformer 结构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L×L 注意力矩阵：每行是一个 Token 的权重分布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为什么是 L×L？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4023360" cy="1078992"/>
          </a:xfrm>
          <a:prstGeom prst="rect">
            <a:avLst/>
          </a:prstGeom>
          <a:solidFill>
            <a:srgbClr val="FFF4F4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</a:rPr>
              <a:t>矩阵含义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1673352"/>
            <a:ext cx="3749040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Scores[i][j] = Token i 对 Token j 的相关性得分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L 行 × L 列 = 序列中任意两个 Token 之间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都参与一次相关性计算（全局注意力）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4023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逐行 Softmax 的含义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023360" cy="969264"/>
          </a:xfrm>
          <a:prstGeom prst="rect">
            <a:avLst/>
          </a:prstGeom>
          <a:solidFill>
            <a:srgbClr val="EBF4FA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</a:rPr>
              <a:t>行 i 的 Softmax 输出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118104"/>
            <a:ext cx="3749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Weights[i] = softmax( Scores[i] )  →  长度为 L 的概率向量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该行之和 = 1.0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Weights[i][j] 表示 Token i 从 Token j 借取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</a:rPr>
              <a:t>信息的比例（注意力权重）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858768"/>
            <a:ext cx="402336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02920" y="3858768"/>
            <a:ext cx="3749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</a:rPr>
              <a:t>Weights[i] = softmax( Q[i] · Kᵀ / √d_k 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17720" y="1051560"/>
            <a:ext cx="0" cy="384048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800600" y="1097280"/>
            <a:ext cx="3977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注意力矩阵示例（L=5，每行之和 = 1.0）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00600" y="1389888"/>
            <a:ext cx="6858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800600" y="1389888"/>
            <a:ext cx="6858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Q↓  K→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0" y="1389888"/>
            <a:ext cx="566928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486400" y="1389888"/>
            <a:ext cx="56692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[CLS]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53328" y="1389888"/>
            <a:ext cx="566928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053328" y="1389888"/>
            <a:ext cx="56692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我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620256" y="1389888"/>
            <a:ext cx="566928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620256" y="1389888"/>
            <a:ext cx="56692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爱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87184" y="1389888"/>
            <a:ext cx="566928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187184" y="1389888"/>
            <a:ext cx="56692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NLP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54112" y="1389888"/>
            <a:ext cx="566928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7754112" y="1389888"/>
            <a:ext cx="56692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[SEP]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321040" y="1389888"/>
            <a:ext cx="292608" cy="402336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321040" y="1389888"/>
            <a:ext cx="29260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Σ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1792224"/>
            <a:ext cx="68580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800600" y="1792224"/>
            <a:ext cx="685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[CLS]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0" y="1792224"/>
            <a:ext cx="566928" cy="475488"/>
          </a:xfrm>
          <a:prstGeom prst="rect">
            <a:avLst/>
          </a:prstGeom>
          <a:solidFill>
            <a:srgbClr val="1E3A5F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486400" y="1792224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0.50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53328" y="1792224"/>
            <a:ext cx="566928" cy="475488"/>
          </a:xfrm>
          <a:prstGeom prst="rect">
            <a:avLst/>
          </a:prstGeom>
          <a:solidFill>
            <a:srgbClr val="88BFDB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053328" y="1792224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0.10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620256" y="1792224"/>
            <a:ext cx="566928" cy="475488"/>
          </a:xfrm>
          <a:prstGeom prst="rect">
            <a:avLst/>
          </a:prstGeom>
          <a:solidFill>
            <a:srgbClr val="E8F4F8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620256" y="1792224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</a:rPr>
              <a:t>0.08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187184" y="1792224"/>
            <a:ext cx="566928" cy="475488"/>
          </a:xfrm>
          <a:prstGeom prst="rect">
            <a:avLst/>
          </a:prstGeom>
          <a:solidFill>
            <a:srgbClr val="88BFDB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7187184" y="1792224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0.12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754112" y="1792224"/>
            <a:ext cx="566928" cy="475488"/>
          </a:xfrm>
          <a:prstGeom prst="rect">
            <a:avLst/>
          </a:prstGeom>
          <a:solidFill>
            <a:srgbClr val="88BFDB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7754112" y="1792224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0.20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321040" y="1792224"/>
            <a:ext cx="292608" cy="475488"/>
          </a:xfrm>
          <a:prstGeom prst="rect">
            <a:avLst/>
          </a:prstGeom>
          <a:solidFill>
            <a:srgbClr val="EAF5EE"/>
          </a:solidFill>
          <a:ln w="635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321040" y="1792224"/>
            <a:ext cx="29260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7B45"/>
                </a:solidFill>
              </a:rPr>
              <a:t>1.0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00600" y="2267712"/>
            <a:ext cx="68580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4800600" y="2267712"/>
            <a:ext cx="685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我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486400" y="2267712"/>
            <a:ext cx="566928" cy="475488"/>
          </a:xfrm>
          <a:prstGeom prst="rect">
            <a:avLst/>
          </a:prstGeom>
          <a:solidFill>
            <a:srgbClr val="E8F4F8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5486400" y="2267712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</a:rPr>
              <a:t>0.08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053328" y="2267712"/>
            <a:ext cx="566928" cy="475488"/>
          </a:xfrm>
          <a:prstGeom prst="rect">
            <a:avLst/>
          </a:prstGeom>
          <a:solidFill>
            <a:srgbClr val="1E3A5F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6053328" y="2267712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0.52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620256" y="2267712"/>
            <a:ext cx="566928" cy="475488"/>
          </a:xfrm>
          <a:prstGeom prst="rect">
            <a:avLst/>
          </a:prstGeom>
          <a:solidFill>
            <a:srgbClr val="2E86AB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620256" y="2267712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0.25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187184" y="2267712"/>
            <a:ext cx="566928" cy="475488"/>
          </a:xfrm>
          <a:prstGeom prst="rect">
            <a:avLst/>
          </a:prstGeom>
          <a:solidFill>
            <a:srgbClr val="88BFDB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7187184" y="2267712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0.10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754112" y="2267712"/>
            <a:ext cx="566928" cy="475488"/>
          </a:xfrm>
          <a:prstGeom prst="rect">
            <a:avLst/>
          </a:prstGeom>
          <a:solidFill>
            <a:srgbClr val="E8F4F8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7754112" y="2267712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</a:rPr>
              <a:t>0.05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321040" y="2267712"/>
            <a:ext cx="292608" cy="475488"/>
          </a:xfrm>
          <a:prstGeom prst="rect">
            <a:avLst/>
          </a:prstGeom>
          <a:solidFill>
            <a:srgbClr val="EAF5EE"/>
          </a:solidFill>
          <a:ln w="635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321040" y="2267712"/>
            <a:ext cx="29260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7B45"/>
                </a:solidFill>
              </a:rPr>
              <a:t>1.0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800600" y="2743200"/>
            <a:ext cx="68580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4800600" y="2743200"/>
            <a:ext cx="685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爱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486400" y="2743200"/>
            <a:ext cx="566928" cy="475488"/>
          </a:xfrm>
          <a:prstGeom prst="rect">
            <a:avLst/>
          </a:prstGeom>
          <a:solidFill>
            <a:srgbClr val="E8F4F8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5486400" y="2743200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</a:rPr>
              <a:t>0.06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053328" y="2743200"/>
            <a:ext cx="566928" cy="475488"/>
          </a:xfrm>
          <a:prstGeom prst="rect">
            <a:avLst/>
          </a:prstGeom>
          <a:solidFill>
            <a:srgbClr val="2E86AB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6053328" y="2743200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0.30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620256" y="2743200"/>
            <a:ext cx="566928" cy="475488"/>
          </a:xfrm>
          <a:prstGeom prst="rect">
            <a:avLst/>
          </a:prstGeom>
          <a:solidFill>
            <a:srgbClr val="2E86AB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6620256" y="2743200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0.30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7187184" y="2743200"/>
            <a:ext cx="566928" cy="475488"/>
          </a:xfrm>
          <a:prstGeom prst="rect">
            <a:avLst/>
          </a:prstGeom>
          <a:solidFill>
            <a:srgbClr val="2E86AB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7187184" y="2743200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0.28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7754112" y="2743200"/>
            <a:ext cx="566928" cy="475488"/>
          </a:xfrm>
          <a:prstGeom prst="rect">
            <a:avLst/>
          </a:prstGeom>
          <a:solidFill>
            <a:srgbClr val="E8F4F8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7754112" y="2743200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</a:rPr>
              <a:t>0.06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8321040" y="2743200"/>
            <a:ext cx="292608" cy="475488"/>
          </a:xfrm>
          <a:prstGeom prst="rect">
            <a:avLst/>
          </a:prstGeom>
          <a:solidFill>
            <a:srgbClr val="EAF5EE"/>
          </a:solidFill>
          <a:ln w="635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Text 71"/>
          <p:cNvSpPr/>
          <p:nvPr/>
        </p:nvSpPr>
        <p:spPr>
          <a:xfrm>
            <a:off x="8321040" y="2743200"/>
            <a:ext cx="29260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7B45"/>
                </a:solidFill>
              </a:rPr>
              <a:t>1.0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800600" y="3218688"/>
            <a:ext cx="68580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Text 73"/>
          <p:cNvSpPr/>
          <p:nvPr/>
        </p:nvSpPr>
        <p:spPr>
          <a:xfrm>
            <a:off x="4800600" y="3218688"/>
            <a:ext cx="685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NLP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5486400" y="3218688"/>
            <a:ext cx="566928" cy="475488"/>
          </a:xfrm>
          <a:prstGeom prst="rect">
            <a:avLst/>
          </a:prstGeom>
          <a:solidFill>
            <a:srgbClr val="E8F4F8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Text 75"/>
          <p:cNvSpPr/>
          <p:nvPr/>
        </p:nvSpPr>
        <p:spPr>
          <a:xfrm>
            <a:off x="5486400" y="3218688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</a:rPr>
              <a:t>0.08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6053328" y="3218688"/>
            <a:ext cx="566928" cy="475488"/>
          </a:xfrm>
          <a:prstGeom prst="rect">
            <a:avLst/>
          </a:prstGeom>
          <a:solidFill>
            <a:srgbClr val="88BFDB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Text 77"/>
          <p:cNvSpPr/>
          <p:nvPr/>
        </p:nvSpPr>
        <p:spPr>
          <a:xfrm>
            <a:off x="6053328" y="3218688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0.22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6620256" y="3218688"/>
            <a:ext cx="566928" cy="475488"/>
          </a:xfrm>
          <a:prstGeom prst="rect">
            <a:avLst/>
          </a:prstGeom>
          <a:solidFill>
            <a:srgbClr val="2E86AB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Text 79"/>
          <p:cNvSpPr/>
          <p:nvPr/>
        </p:nvSpPr>
        <p:spPr>
          <a:xfrm>
            <a:off x="6620256" y="3218688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0.32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7187184" y="3218688"/>
            <a:ext cx="566928" cy="475488"/>
          </a:xfrm>
          <a:prstGeom prst="rect">
            <a:avLst/>
          </a:prstGeom>
          <a:solidFill>
            <a:srgbClr val="2E86AB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Text 81"/>
          <p:cNvSpPr/>
          <p:nvPr/>
        </p:nvSpPr>
        <p:spPr>
          <a:xfrm>
            <a:off x="7187184" y="3218688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0.30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7754112" y="3218688"/>
            <a:ext cx="566928" cy="475488"/>
          </a:xfrm>
          <a:prstGeom prst="rect">
            <a:avLst/>
          </a:prstGeom>
          <a:solidFill>
            <a:srgbClr val="E8F4F8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Text 83"/>
          <p:cNvSpPr/>
          <p:nvPr/>
        </p:nvSpPr>
        <p:spPr>
          <a:xfrm>
            <a:off x="7754112" y="3218688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</a:rPr>
              <a:t>0.08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8321040" y="3218688"/>
            <a:ext cx="292608" cy="475488"/>
          </a:xfrm>
          <a:prstGeom prst="rect">
            <a:avLst/>
          </a:prstGeom>
          <a:solidFill>
            <a:srgbClr val="EAF5EE"/>
          </a:solidFill>
          <a:ln w="635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Text 85"/>
          <p:cNvSpPr/>
          <p:nvPr/>
        </p:nvSpPr>
        <p:spPr>
          <a:xfrm>
            <a:off x="8321040" y="3218688"/>
            <a:ext cx="29260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7B45"/>
                </a:solidFill>
              </a:rPr>
              <a:t>1.0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800600" y="3694176"/>
            <a:ext cx="68580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Text 87"/>
          <p:cNvSpPr/>
          <p:nvPr/>
        </p:nvSpPr>
        <p:spPr>
          <a:xfrm>
            <a:off x="4800600" y="3694176"/>
            <a:ext cx="685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[SEP]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5486400" y="3694176"/>
            <a:ext cx="566928" cy="475488"/>
          </a:xfrm>
          <a:prstGeom prst="rect">
            <a:avLst/>
          </a:prstGeom>
          <a:solidFill>
            <a:srgbClr val="88BFDB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Text 89"/>
          <p:cNvSpPr/>
          <p:nvPr/>
        </p:nvSpPr>
        <p:spPr>
          <a:xfrm>
            <a:off x="5486400" y="3694176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0.22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6053328" y="3694176"/>
            <a:ext cx="566928" cy="475488"/>
          </a:xfrm>
          <a:prstGeom prst="rect">
            <a:avLst/>
          </a:prstGeom>
          <a:solidFill>
            <a:srgbClr val="88BFDB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Text 91"/>
          <p:cNvSpPr/>
          <p:nvPr/>
        </p:nvSpPr>
        <p:spPr>
          <a:xfrm>
            <a:off x="6053328" y="3694176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0.10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6620256" y="3694176"/>
            <a:ext cx="566928" cy="475488"/>
          </a:xfrm>
          <a:prstGeom prst="rect">
            <a:avLst/>
          </a:prstGeom>
          <a:solidFill>
            <a:srgbClr val="E8F4F8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Text 93"/>
          <p:cNvSpPr/>
          <p:nvPr/>
        </p:nvSpPr>
        <p:spPr>
          <a:xfrm>
            <a:off x="6620256" y="3694176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</a:rPr>
              <a:t>0.08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7187184" y="3694176"/>
            <a:ext cx="566928" cy="475488"/>
          </a:xfrm>
          <a:prstGeom prst="rect">
            <a:avLst/>
          </a:prstGeom>
          <a:solidFill>
            <a:srgbClr val="88BFDB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Text 95"/>
          <p:cNvSpPr/>
          <p:nvPr/>
        </p:nvSpPr>
        <p:spPr>
          <a:xfrm>
            <a:off x="7187184" y="3694176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0.10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7754112" y="3694176"/>
            <a:ext cx="566928" cy="475488"/>
          </a:xfrm>
          <a:prstGeom prst="rect">
            <a:avLst/>
          </a:prstGeom>
          <a:solidFill>
            <a:srgbClr val="1E3A5F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Text 97"/>
          <p:cNvSpPr/>
          <p:nvPr/>
        </p:nvSpPr>
        <p:spPr>
          <a:xfrm>
            <a:off x="7754112" y="3694176"/>
            <a:ext cx="5669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0.50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8321040" y="3694176"/>
            <a:ext cx="292608" cy="475488"/>
          </a:xfrm>
          <a:prstGeom prst="rect">
            <a:avLst/>
          </a:prstGeom>
          <a:solidFill>
            <a:srgbClr val="EAF5EE"/>
          </a:solidFill>
          <a:ln w="635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Text 99"/>
          <p:cNvSpPr/>
          <p:nvPr/>
        </p:nvSpPr>
        <p:spPr>
          <a:xfrm>
            <a:off x="8321040" y="3694176"/>
            <a:ext cx="29260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7B45"/>
                </a:solidFill>
              </a:rPr>
              <a:t>1.0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4800600" y="4279392"/>
            <a:ext cx="76809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权重强度：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5605272" y="4288536"/>
            <a:ext cx="274320" cy="219456"/>
          </a:xfrm>
          <a:prstGeom prst="rect">
            <a:avLst/>
          </a:prstGeom>
          <a:solidFill>
            <a:srgbClr val="1E3A5F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Text 102"/>
          <p:cNvSpPr/>
          <p:nvPr/>
        </p:nvSpPr>
        <p:spPr>
          <a:xfrm>
            <a:off x="5916168" y="4279392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</a:rPr>
              <a:t>≥0.40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6373368" y="4288536"/>
            <a:ext cx="274320" cy="219456"/>
          </a:xfrm>
          <a:prstGeom prst="rect">
            <a:avLst/>
          </a:prstGeom>
          <a:solidFill>
            <a:srgbClr val="2E86AB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Text 104"/>
          <p:cNvSpPr/>
          <p:nvPr/>
        </p:nvSpPr>
        <p:spPr>
          <a:xfrm>
            <a:off x="6684264" y="4279392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</a:rPr>
              <a:t>≥0.25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7141464" y="4288536"/>
            <a:ext cx="274320" cy="219456"/>
          </a:xfrm>
          <a:prstGeom prst="rect">
            <a:avLst/>
          </a:prstGeom>
          <a:solidFill>
            <a:srgbClr val="88BFDB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" name="Text 106"/>
          <p:cNvSpPr/>
          <p:nvPr/>
        </p:nvSpPr>
        <p:spPr>
          <a:xfrm>
            <a:off x="7452360" y="4279392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</a:rPr>
              <a:t>≥0.10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7909560" y="4288536"/>
            <a:ext cx="274320" cy="219456"/>
          </a:xfrm>
          <a:prstGeom prst="rect">
            <a:avLst/>
          </a:prstGeom>
          <a:solidFill>
            <a:srgbClr val="E8F4F8"/>
          </a:solidFill>
          <a:ln w="635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Text 108"/>
          <p:cNvSpPr/>
          <p:nvPr/>
        </p:nvSpPr>
        <p:spPr>
          <a:xfrm>
            <a:off x="8220456" y="4279392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</a:rPr>
              <a:t>&lt;0.10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第三部分 · BERT Transformer 结构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Self-Attention 机制详解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Q、K、V 的含义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08176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对输入向量做三次独立的线性变换，得到 Q、K、V：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92224"/>
            <a:ext cx="4023360" cy="621792"/>
          </a:xfrm>
          <a:prstGeom prst="rect">
            <a:avLst/>
          </a:prstGeom>
          <a:solidFill>
            <a:srgbClr val="F8FBFD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365760" y="1792224"/>
            <a:ext cx="457200" cy="62179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65760" y="1792224"/>
            <a:ext cx="4572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Q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184708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Query（查询）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112264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当前词想『问什么』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4023360" cy="621792"/>
          </a:xfrm>
          <a:prstGeom prst="rect">
            <a:avLst/>
          </a:prstGeom>
          <a:solidFill>
            <a:srgbClr val="F8FBFD"/>
          </a:solidFill>
          <a:ln w="19050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2523744"/>
            <a:ext cx="457200" cy="62179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65760" y="2523744"/>
            <a:ext cx="4572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257860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20A"/>
                </a:solidFill>
              </a:rPr>
              <a:t>Key（键）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843784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其他词能『提供什么』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255264"/>
            <a:ext cx="4023360" cy="621792"/>
          </a:xfrm>
          <a:prstGeom prst="rect">
            <a:avLst/>
          </a:prstGeom>
          <a:solidFill>
            <a:srgbClr val="F8FBFD"/>
          </a:solidFill>
          <a:ln w="1905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3255264"/>
            <a:ext cx="457200" cy="62179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65760" y="3255264"/>
            <a:ext cx="4572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V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331012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7B45"/>
                </a:solidFill>
              </a:rPr>
              <a:t>Value（值）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575304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其他词实际『包含什么』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059936"/>
            <a:ext cx="4023360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02920" y="4059936"/>
            <a:ext cx="37490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Q = XW_Q    K = XW_K    V = XW_V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17720" y="1051560"/>
            <a:ext cx="0" cy="384048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800600" y="109728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Scaled Dot-Product Attention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1408176"/>
            <a:ext cx="397764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937760" y="1408176"/>
            <a:ext cx="3703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Attention(Q,K,V) = softmax( QKᵀ/√dₖ ) · V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1993392"/>
            <a:ext cx="3977640" cy="640080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800600" y="1993392"/>
            <a:ext cx="54864" cy="6400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919472" y="2048256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①  计算相关度分数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19472" y="231343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QKᵀ / √dₖ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800600" y="2724912"/>
            <a:ext cx="3977640" cy="640080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4800600" y="2724912"/>
            <a:ext cx="54864" cy="64008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4919472" y="2779776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20A"/>
                </a:solidFill>
              </a:rPr>
              <a:t>②  Softmax 归一化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19472" y="304495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softmax(score)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800600" y="3456432"/>
            <a:ext cx="3977640" cy="640080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4800600" y="3456432"/>
            <a:ext cx="54864" cy="64008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4919472" y="3511296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7B45"/>
                </a:solidFill>
              </a:rPr>
              <a:t>③  加权求和输出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19472" y="377647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w · V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800600" y="4187952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√dₖ 缩放防止点积过大，避免 softmax 梯度消失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第三部分 · BERT Transformer 结构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Multi-Head Attention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为什么需要多头注意力？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26464"/>
            <a:ext cx="40233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单个注意力头只能关注一种特定关系。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多头让模型同时关注来自不同子空间的信息：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73152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12064" y="2084832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头 1：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2084832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关注句法依存关系（主谓宾）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73152" cy="384048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12064" y="2560320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20A"/>
                </a:solidFill>
              </a:rPr>
              <a:t>头 2：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56032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关注语义相似关系（近义词）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35808"/>
            <a:ext cx="73152" cy="38404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12064" y="3035808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7B45"/>
                </a:solidFill>
              </a:rPr>
              <a:t>头 3：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035808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关注位置与指代关系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584448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每个头独立计算，最后拼接后再线性投影：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913632"/>
            <a:ext cx="4023360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02920" y="3913632"/>
            <a:ext cx="37490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head_i = Attention( Q·W_iQ,  K·W_iK,  V·W_iV 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1051560"/>
            <a:ext cx="0" cy="384048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800600" y="109728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多头结构示意（h = 3 示例）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1426464"/>
            <a:ext cx="397764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800600" y="1426464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D2D2D"/>
                </a:solidFill>
              </a:rPr>
              <a:t>输入：Q  K  V  （来自上一层）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17820" y="1792224"/>
            <a:ext cx="0" cy="18288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800600" y="1975104"/>
            <a:ext cx="1234440" cy="6400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800600" y="1975104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Head 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2304288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Attention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17820" y="2615184"/>
            <a:ext cx="0" cy="18288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720840" y="1792224"/>
            <a:ext cx="0" cy="18288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6103620" y="1975104"/>
            <a:ext cx="1234440" cy="64008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103620" y="1975104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Head 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03620" y="2304288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Attention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720840" y="2615184"/>
            <a:ext cx="0" cy="18288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023860" y="1792224"/>
            <a:ext cx="0" cy="18288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7406640" y="1975104"/>
            <a:ext cx="1234440" cy="64008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7406640" y="1975104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Head 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406640" y="2304288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Attention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023860" y="2615184"/>
            <a:ext cx="0" cy="18288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4800600" y="2798064"/>
            <a:ext cx="3977640" cy="36576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4800600" y="2798064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Concat( Head₁, Head₂, Head₃ 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789420" y="3163824"/>
            <a:ext cx="0" cy="18288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4800600" y="3346704"/>
            <a:ext cx="397764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4800600" y="3346704"/>
            <a:ext cx="3977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线性投影 W^O → 输出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00600" y="3840480"/>
            <a:ext cx="3977640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4937760" y="3840480"/>
            <a:ext cx="37033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MultiHead = Concat(heads) · W^O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第三部分 · BERT Transformer 结构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前馈网络（FFN）与残差连接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Position-wise Feed-Forward Network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26464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对序列中每个位置独立应用，两层线性 + GELU 激活：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4023360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02920" y="1810512"/>
            <a:ext cx="37490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FFN(x) = GELU(xW₁ + b₁)W₂ + b₂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340864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</a:rPr>
              <a:t>维度变化（BERT-base）：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651760"/>
            <a:ext cx="82296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65760" y="2651760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</a:rPr>
              <a:t>输入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</a:rPr>
              <a:t>768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88720" y="2798064"/>
            <a:ext cx="182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86AB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71600" y="2651760"/>
            <a:ext cx="822960" cy="56692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371600" y="2651760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W₁+GELU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3072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94560" y="2798064"/>
            <a:ext cx="182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86AB"/>
                </a:solidFill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77440" y="2651760"/>
            <a:ext cx="82296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2377440" y="2651760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W₂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768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00400" y="2798064"/>
            <a:ext cx="182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E86AB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2651760"/>
            <a:ext cx="82296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383280" y="2651760"/>
            <a:ext cx="8229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</a:rPr>
              <a:t>输出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D2D2D"/>
                </a:solidFill>
              </a:rPr>
              <a:t>768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291840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</a:rPr>
              <a:t>GELU：比 ReLU 更平滑的激活函数，为 BERT 推荐使用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" y="365760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Transformer Block 完整公式：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950208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z = LayerNorm( x + MHA(x) 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output = LayerNorm( z + FFN(z) 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17720" y="1051560"/>
            <a:ext cx="0" cy="384048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800600" y="1097280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深层堆叠的关键设计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1435608"/>
            <a:ext cx="3977640" cy="841248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4800600" y="1435608"/>
            <a:ext cx="54864" cy="8412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919472" y="149047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6AB"/>
                </a:solidFill>
              </a:rPr>
              <a:t>残差连接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919472" y="17830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梯度可直接通过跳过连接反传，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解决深层网络梯度消失问题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00600" y="2395728"/>
            <a:ext cx="3977640" cy="841248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800600" y="2395728"/>
            <a:ext cx="54864" cy="841248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919472" y="24505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720A"/>
                </a:solidFill>
              </a:rPr>
              <a:t>层归一化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919472" y="27432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按位置独立归一化，缓解内部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协变量偏移，加速收敛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00600" y="3355848"/>
            <a:ext cx="3977640" cy="841248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4800600" y="3355848"/>
            <a:ext cx="54864" cy="84124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4919472" y="341071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7B45"/>
                </a:solidFill>
              </a:rPr>
              <a:t>FFN 升维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919472" y="370332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768→3072 的升维操作提供更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丰富的特征变换空间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800600" y="4370832"/>
            <a:ext cx="3977640" cy="54864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4937760" y="4370832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三种机制协作，使 BERT 得以安全堆叠 12/24 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第三部分 · BERT Transformer 结构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BERT 微调与下游任务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069080" cy="1554480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4069080" cy="5486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</a:rPr>
              <a:t>文本分类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[CLS] 向量 → 分类头（Softmax）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384048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情感分析：正面 / 负面 / 中性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新闻主题分类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法律文书意图判别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4069080" cy="1554480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709160" y="1115568"/>
            <a:ext cx="406908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846320" y="1207008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序列标注（NER）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481328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每个 Token 向量 → 实体标签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737360"/>
            <a:ext cx="384048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命名实体识别（人/地/机构）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医疗术语抽取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词性标注（POS）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4069080" cy="1554480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4069080" cy="54864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02920" y="2926080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720A"/>
                </a:solidFill>
              </a:rPr>
              <a:t>阅读理解（QA）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200400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预测答案起始位置 Token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456432"/>
            <a:ext cx="384048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SQuAD 抽取式问答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电商智能客服问答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知识库自动问答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2834640"/>
            <a:ext cx="4069080" cy="1554480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709160" y="2834640"/>
            <a:ext cx="4069080" cy="5486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846320" y="2926080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7B45"/>
                </a:solidFill>
              </a:rPr>
              <a:t>句对推理（NLI）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200400"/>
            <a:ext cx="388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[CLS] 编码句对 → 推理标签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456432"/>
            <a:ext cx="384048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蕴含 / 矛盾 / 中性分类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问题重复性检测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</a:rPr>
              <a:t>文本语义相似度计算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4608576"/>
            <a:ext cx="8412480" cy="347472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02920" y="4608576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微调只需在 BERT 顶部加轻量任务头，下游任务达到 SOTA 时间从数月缩短至数小时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E86AB"/>
                </a:solidFill>
              </a:rPr>
              <a:t>04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大语言模型 — 预训练技术的延伸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9C4DD"/>
                </a:solidFill>
              </a:rPr>
              <a:t>从 BERT 到 GPT · 能力涌现 · 规模定律 · 演进总结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第四部分 · 大语言模型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从 BERT 到 GPT 系列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Transformer 三种架构范式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4023360" cy="804672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54864" cy="8046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93776" y="14996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BERT（编码器 Encoder-only）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" y="17830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双向上下文 · MLM 预训练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3776" y="2011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适用：NLU：分类 / NER / 阅读理解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59152"/>
            <a:ext cx="4023360" cy="804672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2359152"/>
            <a:ext cx="54864" cy="804672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93776" y="24140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20A"/>
                </a:solidFill>
              </a:rPr>
              <a:t>GPT 系列（解码器 Decoder-only）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" y="26974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自回归生成 · 单向因果注意力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" y="29260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适用：NLG：对话 / 续写 / 代码生成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73552"/>
            <a:ext cx="4023360" cy="804672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54864" cy="80467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93776" y="33284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7B45"/>
                </a:solidFill>
              </a:rPr>
              <a:t>T5（编码-解码 Enc-Dec）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" y="36118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Seq2Seq · 统一文本到文本框架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3776" y="3840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适用：翻译 / 摘要 / 多任务统一建模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1051560"/>
            <a:ext cx="0" cy="384048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800600" y="10972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参数量规模的跃升（对数尺度参考）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1664208"/>
            <a:ext cx="32004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800600" y="1664208"/>
            <a:ext cx="731520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800600" y="14447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</a:rPr>
              <a:t>BERT-base  2018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23560" y="1691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86AB"/>
                </a:solidFill>
              </a:rPr>
              <a:t>110M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2377440"/>
            <a:ext cx="32004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800600" y="2377440"/>
            <a:ext cx="1371600" cy="329184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800600" y="21579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</a:rPr>
              <a:t>GPT-2  2019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63640" y="2404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720A"/>
                </a:solidFill>
              </a:rPr>
              <a:t>1.5B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00600" y="3090672"/>
            <a:ext cx="32004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4800600" y="3090672"/>
            <a:ext cx="237744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800600" y="287121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</a:rPr>
              <a:t>GPT-3  2020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55080" y="31181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175B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00600" y="3803904"/>
            <a:ext cx="3200400" cy="32918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4800600" y="3803904"/>
            <a:ext cx="320040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4800600" y="35844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</a:rPr>
              <a:t>GPT-4  2023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178040" y="38313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~1T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00600" y="435254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核心趋势：Decoder-only 架构 + 自回归生成 + 大规模预训练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第四部分 · 大语言模型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大模型的能力涌现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三大涌现能力（规模突破阈值后出现）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35608"/>
            <a:ext cx="4023360" cy="1005840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365760" y="1435608"/>
            <a:ext cx="54864" cy="10058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493776" y="14904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上下文学习（In-context Learning）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" y="17647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无需微调，仅凭 Prompt 中的少量示例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即可完成新任务（Zero-shot / Few-shot）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3776" y="22037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</a:rPr>
              <a:t>示例：法语翻译 sea→mer，cat→？答：chat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532888"/>
            <a:ext cx="4023360" cy="1005840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2532888"/>
            <a:ext cx="54864" cy="100584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93776" y="25877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20A"/>
                </a:solidFill>
              </a:rPr>
              <a:t>指令遵循（Instruction Following）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" y="286207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按自然语言指令完成复杂多步骤任务，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不需要特殊格式或结构化输入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" y="33009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</a:rPr>
              <a:t>示例：分析这份合同风险点，按严重程度排序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630168"/>
            <a:ext cx="4023360" cy="1005840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3630168"/>
            <a:ext cx="54864" cy="100584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93776" y="36850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7B45"/>
                </a:solidFill>
              </a:rPr>
              <a:t>思维链推理（Chain-of-Thought）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" y="395935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逐步推导中间过程，显著提升数学、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逻辑和常识推理任务准确率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3776" y="43982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66666"/>
                </a:solidFill>
              </a:rPr>
              <a:t>示例：让我们一步一步思考……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1051560"/>
            <a:ext cx="0" cy="384048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800600" y="10972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代表性应用场景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1435608"/>
            <a:ext cx="39776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800600" y="1435608"/>
            <a:ext cx="54864" cy="76809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919472" y="14996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6AB"/>
                </a:solidFill>
              </a:rPr>
              <a:t>ChatGPT / Claude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19472" y="177393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多轮对话助手，辅助写作、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问答与知识检索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00600" y="2304288"/>
            <a:ext cx="39776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800600" y="2304288"/>
            <a:ext cx="54864" cy="7680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919472" y="23682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</a:rPr>
              <a:t>GitHub Copilot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19472" y="264261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代码补全与生成，理解注释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自动实现函数逻辑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00600" y="3172968"/>
            <a:ext cx="39776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4800600" y="3172968"/>
            <a:ext cx="54864" cy="768096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919472" y="32369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720A"/>
                </a:solidFill>
              </a:rPr>
              <a:t>Midjourney Prompt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919472" y="351129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将自然语言描述转化为精准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图像生成提示词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00600" y="4041648"/>
            <a:ext cx="39776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4800600" y="4041648"/>
            <a:ext cx="54864" cy="768096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4919472" y="41056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7B45"/>
                </a:solidFill>
              </a:rPr>
              <a:t>文档摘要 / 翻译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919472" y="437997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自动摘要长文档，跨语言翻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译并保持语义忠实性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第四部分 · 大语言模型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LLM 与语言模型的一脉相承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核心目标从未改变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0817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无论 N-gram 还是 GPT-4，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</a:rPr>
              <a:t>本质上都在回答同一个问题：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956816"/>
            <a:ext cx="4023360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02920" y="195681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P(下一个词 | 上下文) = 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演进路径：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779776"/>
            <a:ext cx="4023360" cy="33832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779776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N-gram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011680" y="2779776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计数统计 · 马尔可夫假设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3118104"/>
            <a:ext cx="0" cy="54864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3172968"/>
            <a:ext cx="4023360" cy="33832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02920" y="317296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RNN / LSTM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011680" y="3172968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序列记忆 · 门控机制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3511296"/>
            <a:ext cx="0" cy="54864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3566160"/>
            <a:ext cx="4023360" cy="33832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02920" y="3566160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Transformer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011680" y="356616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并行注意力 · 位置编码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3904488"/>
            <a:ext cx="0" cy="54864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65760" y="3959352"/>
            <a:ext cx="4023360" cy="338328"/>
          </a:xfrm>
          <a:prstGeom prst="rect">
            <a:avLst/>
          </a:prstGeom>
          <a:solidFill>
            <a:srgbClr val="F5F5F5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02920" y="3959352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BERT / GPT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011680" y="3959352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预训练 + 微调范式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" y="4297680"/>
            <a:ext cx="0" cy="54864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365760" y="4352544"/>
            <a:ext cx="4023360" cy="338328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02920" y="4352544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LLM (100B+)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011680" y="4352544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</a:rPr>
              <a:t>涌现能力 · Scaling Law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17720" y="1051560"/>
            <a:ext cx="0" cy="384048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800600" y="10972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规模定律（Scaling Law）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00600" y="1408176"/>
            <a:ext cx="3977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Kaplan et al. (2020) 发现：模型能力随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数据量、参数量、算力幂律稳定增长：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1956816"/>
            <a:ext cx="3977640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937760" y="1956816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Loss ∝ N^{−α}  ×  D^{−β}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00600" y="2468880"/>
            <a:ext cx="3977640" cy="512064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4800600" y="2468880"/>
            <a:ext cx="457200" cy="51206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4800600" y="246888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N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349240" y="25237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</a:rPr>
              <a:t>参数量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49240" y="27432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每10倍参数，能力稳定提升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800600" y="3063240"/>
            <a:ext cx="3977640" cy="512064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4800600" y="3063240"/>
            <a:ext cx="457200" cy="512064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4800600" y="306324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349240" y="31181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20A"/>
                </a:solidFill>
              </a:rPr>
              <a:t>数据量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49240" y="33375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万亿 Token 规模的训练语料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800600" y="3657600"/>
            <a:ext cx="3977640" cy="512064"/>
          </a:xfrm>
          <a:prstGeom prst="rect">
            <a:avLst/>
          </a:prstGeom>
          <a:solidFill>
            <a:srgbClr val="F8FBFD"/>
          </a:solidFill>
          <a:ln w="12700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4800600" y="3657600"/>
            <a:ext cx="457200" cy="51206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4800600" y="365760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349240" y="37124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7B45"/>
                </a:solidFill>
              </a:rPr>
              <a:t>计算量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49240" y="39319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</a:rPr>
              <a:t>GPU 集群 × 训练时长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800600" y="4352544"/>
            <a:ext cx="3977640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4937760" y="4352544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3A5F"/>
                </a:solidFill>
              </a:rPr>
              <a:t>后续专题：LLM 架构细节 · RLHF · RAG · Agent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86AB"/>
                </a:solidFill>
              </a:rPr>
              <a:t>总结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65760" y="365760"/>
            <a:ext cx="64008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347472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</a:rPr>
              <a:t>课程总结：语言模型演进脉络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1307592" cy="5120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65760" y="1133856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2D2D"/>
                </a:solidFill>
              </a:rPr>
              <a:t>N-gram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</a:rPr>
              <a:t>1990s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73352" y="1188720"/>
            <a:ext cx="54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</a:rPr>
              <a:t>→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28216" y="1078992"/>
            <a:ext cx="1307592" cy="512064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728216" y="1133856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RNN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28216" y="1389888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E8F4"/>
                </a:solidFill>
              </a:rPr>
              <a:t>2000s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035808" y="1188720"/>
            <a:ext cx="54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</a:rPr>
              <a:t>→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90672" y="1078992"/>
            <a:ext cx="1307592" cy="51206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090672" y="1133856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Word2Vec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90672" y="1389888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E8F4"/>
                </a:solidFill>
              </a:rPr>
              <a:t>2013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98264" y="1188720"/>
            <a:ext cx="54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</a:rPr>
              <a:t>→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53128" y="1078992"/>
            <a:ext cx="1307592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453128" y="1133856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BERT/GPT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53128" y="1389888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E8F4"/>
                </a:solidFill>
              </a:rPr>
              <a:t>2018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60720" y="1188720"/>
            <a:ext cx="54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</a:rPr>
              <a:t>→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15584" y="1078992"/>
            <a:ext cx="1307592" cy="512064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5815584" y="1133856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GPT-3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15584" y="1389888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E8F4"/>
                </a:solidFill>
              </a:rPr>
              <a:t>2020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123176" y="1188720"/>
            <a:ext cx="54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</a:rPr>
              <a:t>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78040" y="1078992"/>
            <a:ext cx="1307592" cy="5120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178040" y="1133856"/>
            <a:ext cx="1307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LLM时代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78040" y="1389888"/>
            <a:ext cx="1307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E8F4"/>
                </a:solidFill>
              </a:rPr>
              <a:t>2022+</a:t>
            </a:r>
            <a:endParaRPr lang="en-US" sz="9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19072"/>
          <a:ext cx="8412480" cy="219456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技术阶段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核心原理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上下文能力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代表应用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</a:rPr>
                        <a:t>N-gram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</a:rPr>
                        <a:t>频率统计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</a:rPr>
                        <a:t>固定 N-1 窗口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</a:rPr>
                        <a:t>输入法 · 拼写纠错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86AB"/>
                          </a:solidFill>
                        </a:rPr>
                        <a:t>RNN / LSTM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</a:rPr>
                        <a:t>循环隐状态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</a:rPr>
                        <a:t>理论无限/实际有限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</a:rPr>
                        <a:t>语音识别 · 翻译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3A5F"/>
                          </a:solidFill>
                        </a:rPr>
                        <a:t>BERT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</a:rPr>
                        <a:t>双向注意力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</a:rPr>
                        <a:t>全局并行上下文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</a:rPr>
                        <a:t>搜索 · NER · QA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</a:rPr>
                        <a:t>LLM (GPT等)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</a:rPr>
                        <a:t>自回归生成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</a:rPr>
                        <a:t>千级 Token 上下文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D2D2D"/>
                          </a:solidFill>
                        </a:rPr>
                        <a:t>对话 · 代码 · 推理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65760" y="4279392"/>
            <a:ext cx="841248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502920" y="42793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语言模型的本质：建模语言概率分布 — 技术不断演进，核心目标始终如一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3483</Words>
  <Application>Microsoft Office PowerPoint</Application>
  <PresentationFormat>全屏显示(16:9)</PresentationFormat>
  <Paragraphs>883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8" baseType="lpstr">
      <vt:lpstr>Malgun Gothic Semilight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zimo Yin</cp:lastModifiedBy>
  <cp:revision>7</cp:revision>
  <dcterms:created xsi:type="dcterms:W3CDTF">2013-01-27T09:14:16Z</dcterms:created>
  <dcterms:modified xsi:type="dcterms:W3CDTF">2026-04-27T08:09:35Z</dcterms:modified>
  <cp:category/>
</cp:coreProperties>
</file>