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8" r:id="rId18"/>
    <p:sldId id="289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7154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371600"/>
            <a:ext cx="164592" cy="23774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Language Models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大语言模型如何完成问答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B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BERT 到生成式 LLM  ·  Attention Mask  ·  SFT  ·  采样策略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3931920"/>
            <a:ext cx="36576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进阶课程  ·  教学讲义</a:t>
            </a:r>
            <a:endParaRPr lang="en-US" sz="1300" dirty="0"/>
          </a:p>
        </p:txBody>
      </p:sp>
      <p:sp>
        <p:nvSpPr>
          <p:cNvPr id="9" name="TextBox 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645920"/>
            <a:ext cx="164592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BERT 谈起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复习编码器模型  ·  理解生成任务的挑战  ·  引出 Attention Mask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 · 复习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 快速回顾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模型结构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1554480"/>
            <a:ext cx="2560320" cy="4114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554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Layer 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97280" y="2057400"/>
            <a:ext cx="2560320" cy="4114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Layer 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560320"/>
            <a:ext cx="2560320" cy="4114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560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Layer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-5400000">
            <a:off x="2286000" y="3108960"/>
            <a:ext cx="182880" cy="137160"/>
          </a:xfrm>
          <a:prstGeom prst="rtTriangl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3375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  我  爱  北  京  [SEP]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7490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 Transformer Encoder × 12 (Base) / 24 (Large)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17720" y="1143000"/>
            <a:ext cx="0" cy="292608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预训练任务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800600" y="150876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MLM  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随机 mask 15% 的 token，让模型根据上下文预测原词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19659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NSP  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判断句 B 是否是句 A 的下一句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2423160"/>
            <a:ext cx="397764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496312"/>
            <a:ext cx="370332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我 [MASK] 北京天安门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预测 [MASK] = 爱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00600" y="33375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擅长任务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800600" y="3657600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文本分类（情感、主题）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命名实体识别 NER</a:t>
            </a:r>
            <a:endParaRPr lang="en-US" sz="12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抽取式问答（从原文找答案 span）</a:t>
            </a:r>
            <a:endParaRPr lang="en-US" sz="12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 · 核心问题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 的"三宗罪" —— 为什么不适合生成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788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预训练目标不匹配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 Objective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057400"/>
            <a:ext cx="2514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488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MLM 训练的是"完形填空"：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给定双向上下文，填中间的洞。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生成任务需要的是"续写"：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给定前文，预测下一个词。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两个任务的信号完全不同。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160520"/>
            <a:ext cx="242316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160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Fill-in-blank ≠ Continue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91840" y="118872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91840" y="1188720"/>
            <a:ext cx="2788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88620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注意力是双向的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8620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Attention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29000" y="2057400"/>
            <a:ext cx="2514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1488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 里每个位置可以看到序列中所有位置（包括它后面的词）。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生成时第 t 步不应该看到 t+1 以后的词——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否则等于"作弊"提前看答案。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4160520"/>
            <a:ext cx="242316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4160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需要 Causal Mask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0" y="1188720"/>
            <a:ext cx="27889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0" y="1188720"/>
            <a:ext cx="2788920" cy="731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55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812280" y="13716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输出长度固定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12280" y="1737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Output Length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355080" y="2057400"/>
            <a:ext cx="2514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214884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MLM 的预测位置数 = 输入中 [MASK] 的个数，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由输入结构决定。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真正的生成需要模型自己决定：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生成多长</a:t>
            </a:r>
            <a:endParaRPr lang="en-US" sz="11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• 什么时候停下（EOS）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4160520"/>
            <a:ext cx="2423160" cy="292608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16052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输入决定输出长度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根本原因：BERT 的架构和训练目标是为"理解"优化的，不是"生成"</a:t>
            </a:r>
            <a:endParaRPr lang="en-US" sz="1200" dirty="0"/>
          </a:p>
        </p:txBody>
      </p:sp>
      <p:sp>
        <p:nvSpPr>
          <p:cNvPr id="33" name="TextBox 3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01 · 过渡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那么，如何改造才能做生成？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要让模型学会"续写"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预训练目标换成 next-token</a:t>
            </a:r>
            <a:endParaRPr lang="en-US" sz="12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禁止每个 token 看到未来的词</a:t>
            </a:r>
            <a:endParaRPr lang="en-US" sz="12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生成时可以一个一个地输出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965960"/>
            <a:ext cx="365760" cy="320040"/>
          </a:xfrm>
          <a:prstGeom prst="rtTriangl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0" y="2331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0" y="1371600"/>
            <a:ext cx="3657600" cy="1463040"/>
          </a:xfrm>
          <a:prstGeom prst="roundRect">
            <a:avLst>
              <a:gd name="adj" fmla="val 625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核心机制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7830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Mask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37760" y="2331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BD6E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控制"谁能看见谁"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46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下一节我们会看到：只要改变一个 L×L 的 0/1 矩阵，同一个架构就能——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全可见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做理解（BERT）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下三角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47472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做生成（GPT）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25603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38221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前缀双向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17920" y="4206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做条件生成（T5/GLM）</a:t>
            </a:r>
            <a:endParaRPr 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645920"/>
            <a:ext cx="164592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Mask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控制"谁能看见谁"  ·  三种 Mask 模式  ·  自回归生成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 · 前置知识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运算回顾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核心公式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640080"/>
          </a:xfrm>
          <a:prstGeom prst="rect">
            <a:avLst/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 K, V) = softmax(QKᵀ / √d) · 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0233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算相似度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37360" y="23317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Q · Kᵀ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40233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175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归一化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37360" y="3017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 = softmax(scores / √d)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703320"/>
            <a:ext cx="402336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加权聚合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37360" y="37033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weights · V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在哪里起作用？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1508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 softmax 之前，把不允许看的位置的 score 设为 -∞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965960"/>
            <a:ext cx="3977640" cy="214884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039112"/>
            <a:ext cx="3703320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Q @ K.transpose(-2,-1)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scores / sqrt(d)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关键一步：屏蔽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scores.masked_fill(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mask==1, float('-inf'))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weights = softmax(scores, dim=-1)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-inf 位置的权重 → 0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00600" y="4206240"/>
            <a:ext cx="3977640" cy="594360"/>
          </a:xfrm>
          <a:prstGeom prst="roundRect">
            <a:avLst>
              <a:gd name="adj" fmla="val 7692"/>
            </a:avLst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420624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直觉：</a:t>
            </a: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就是 Attention 的"权限控制"</a:t>
            </a:r>
            <a:endParaRPr lang="en-US" sz="1200" dirty="0"/>
          </a:p>
        </p:txBody>
      </p:sp>
      <p:sp>
        <p:nvSpPr>
          <p:cNvPr id="24" name="TextBox 2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 · 概念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的本质：一个 L × L 矩阵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序列长度（token 数）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M[i][j] = 0 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第 i 个 token 可以看见第 j 个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M[i][j] = 1 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屏蔽（score = -∞）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51760"/>
            <a:ext cx="4023360" cy="1737360"/>
          </a:xfrm>
          <a:prstGeom prst="roundRect">
            <a:avLst>
              <a:gd name="adj" fmla="val 2632"/>
            </a:avLst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关键理解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1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换一个矩阵，同一个 Transformer 架构</a:t>
            </a:r>
            <a:endParaRPr lang="en-US" sz="11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就能从 "理解模型" 变成 "生成模型"</a:t>
            </a:r>
            <a:endParaRPr lang="en-US" sz="1100" dirty="0"/>
          </a:p>
          <a:p>
            <a:pPr marL="0" indent="0">
              <a:spcBef>
                <a:spcPts val="100"/>
              </a:spcBef>
              <a:buNone/>
            </a:pPr>
            <a:endParaRPr lang="en-US" sz="11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矩阵的形状决定了模型做的任务：</a:t>
            </a:r>
            <a:endParaRPr lang="en-US" sz="11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全 0  → 完全双向</a:t>
            </a:r>
            <a:endParaRPr lang="en-US" sz="11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下三角 → 因果生成</a:t>
            </a:r>
            <a:endParaRPr lang="en-US" sz="1100" dirty="0"/>
          </a:p>
          <a:p>
            <a:pPr marL="0" indent="0">
              <a:spcBef>
                <a:spcPts val="1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— 自定义 → 前缀 / 局部注意力...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 (L = 5)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13075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870448" y="13075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254496" y="13075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638544" y="13075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022592" y="130759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74920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74920" y="198424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74920" y="236829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74920" y="275234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74920" y="313639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0" y="1600200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70448" y="1600200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54496" y="1600200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38544" y="1600200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22592" y="1600200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0" y="1984248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70448" y="1984248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1984248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638544" y="1984248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022592" y="1984248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486400" y="2368296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870448" y="2368296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54496" y="2368296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38544" y="2368296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22592" y="2368296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86400" y="2752344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70448" y="2752344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54496" y="2752344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638544" y="2752344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022592" y="2752344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86400" y="3136392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70448" y="3136392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54496" y="3136392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38544" y="3136392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022592" y="3136392"/>
            <a:ext cx="384048" cy="38404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0352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全可见 (Bidirectional)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486400" y="4160520"/>
            <a:ext cx="274320" cy="20116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06440" y="4142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可见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583680" y="4160520"/>
            <a:ext cx="274320" cy="20116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03720" y="4142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屏蔽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800600" y="45720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i = Query 位置     → j = Key 位置</a:t>
            </a:r>
            <a:endParaRPr lang="en-US" sz="1000" dirty="0"/>
          </a:p>
        </p:txBody>
      </p:sp>
      <p:sp>
        <p:nvSpPr>
          <p:cNvPr id="55" name="TextBox 5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 · 核心对比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三种主流 Mask 模式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06424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353312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600200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847088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093976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40080" y="1325880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40080" y="1572768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40080" y="1819656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40080" y="2066544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40080" y="2313432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640080" y="2560320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68680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15568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62456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09344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56232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03120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68680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15568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62456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09344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56232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03120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68680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5568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62456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09344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56232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103120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8680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115568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362456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09344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856232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103120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8680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15568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62456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609344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56232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03120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68680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115568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362456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609344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856232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103120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全可见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40080" y="3218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0080" y="3584448"/>
            <a:ext cx="2468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3152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</a:t>
            </a: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3152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</a:t>
            </a: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理解任务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3152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直觉：</a:t>
            </a: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人人互看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739896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3986784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4233672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480560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727448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4974336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3520440" y="1325880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520440" y="1572768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520440" y="1819656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3520440" y="2066544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3520440" y="2313432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3520440" y="2560320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3749040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995928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242816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489704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736592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983480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3749040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995928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42816" y="1572768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489704" y="1572768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736592" y="1572768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83480" y="1572768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3749040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995928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242816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489704" y="1819656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736592" y="1819656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983480" y="1819656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749040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995928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242816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489704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736592" y="2066544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83480" y="2066544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749040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995928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242816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489704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736592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983480" y="2313432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3749040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3995928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242816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489704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736592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83480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52044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下三角</a:t>
            </a:r>
            <a:endParaRPr lang="en-US" sz="1300" dirty="0"/>
          </a:p>
        </p:txBody>
      </p:sp>
      <p:sp>
        <p:nvSpPr>
          <p:cNvPr id="108" name="Text 106"/>
          <p:cNvSpPr/>
          <p:nvPr/>
        </p:nvSpPr>
        <p:spPr>
          <a:xfrm>
            <a:off x="3520440" y="3218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/ Triangular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3520440" y="3584448"/>
            <a:ext cx="2468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4720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361188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</a:t>
            </a: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GPT, Llama</a:t>
            </a:r>
            <a:endParaRPr lang="en-US" sz="1100" dirty="0"/>
          </a:p>
        </p:txBody>
      </p:sp>
      <p:sp>
        <p:nvSpPr>
          <p:cNvPr id="111" name="Text 109"/>
          <p:cNvSpPr/>
          <p:nvPr/>
        </p:nvSpPr>
        <p:spPr>
          <a:xfrm>
            <a:off x="361188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</a:t>
            </a:r>
            <a:r>
              <a:rPr lang="en-US" sz="11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自回归生成</a:t>
            </a:r>
            <a:endParaRPr lang="en-US" sz="1100" dirty="0"/>
          </a:p>
        </p:txBody>
      </p:sp>
      <p:sp>
        <p:nvSpPr>
          <p:cNvPr id="112" name="Text 110"/>
          <p:cNvSpPr/>
          <p:nvPr/>
        </p:nvSpPr>
        <p:spPr>
          <a:xfrm>
            <a:off x="361188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直觉：</a:t>
            </a: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只能看自己和过去</a:t>
            </a:r>
            <a:endParaRPr lang="en-US" sz="1000" dirty="0"/>
          </a:p>
        </p:txBody>
      </p:sp>
      <p:sp>
        <p:nvSpPr>
          <p:cNvPr id="113" name="Text 111"/>
          <p:cNvSpPr/>
          <p:nvPr/>
        </p:nvSpPr>
        <p:spPr>
          <a:xfrm>
            <a:off x="6620256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114" name="Text 112"/>
          <p:cNvSpPr/>
          <p:nvPr/>
        </p:nvSpPr>
        <p:spPr>
          <a:xfrm>
            <a:off x="6867144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115" name="Text 113"/>
          <p:cNvSpPr/>
          <p:nvPr/>
        </p:nvSpPr>
        <p:spPr>
          <a:xfrm>
            <a:off x="7114032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116" name="Text 114"/>
          <p:cNvSpPr/>
          <p:nvPr/>
        </p:nvSpPr>
        <p:spPr>
          <a:xfrm>
            <a:off x="7360920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7607808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118" name="Text 116"/>
          <p:cNvSpPr/>
          <p:nvPr/>
        </p:nvSpPr>
        <p:spPr>
          <a:xfrm>
            <a:off x="7854696" y="1124712"/>
            <a:ext cx="265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119" name="Text 117"/>
          <p:cNvSpPr/>
          <p:nvPr/>
        </p:nvSpPr>
        <p:spPr>
          <a:xfrm>
            <a:off x="6400800" y="1325880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700" dirty="0"/>
          </a:p>
        </p:txBody>
      </p:sp>
      <p:sp>
        <p:nvSpPr>
          <p:cNvPr id="120" name="Text 118"/>
          <p:cNvSpPr/>
          <p:nvPr/>
        </p:nvSpPr>
        <p:spPr>
          <a:xfrm>
            <a:off x="6400800" y="1572768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700" dirty="0"/>
          </a:p>
        </p:txBody>
      </p:sp>
      <p:sp>
        <p:nvSpPr>
          <p:cNvPr id="121" name="Text 119"/>
          <p:cNvSpPr/>
          <p:nvPr/>
        </p:nvSpPr>
        <p:spPr>
          <a:xfrm>
            <a:off x="6400800" y="1819656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6400800" y="2066544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700" dirty="0"/>
          </a:p>
        </p:txBody>
      </p:sp>
      <p:sp>
        <p:nvSpPr>
          <p:cNvPr id="123" name="Text 121"/>
          <p:cNvSpPr/>
          <p:nvPr/>
        </p:nvSpPr>
        <p:spPr>
          <a:xfrm>
            <a:off x="6400800" y="2313432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700" dirty="0"/>
          </a:p>
        </p:txBody>
      </p:sp>
      <p:sp>
        <p:nvSpPr>
          <p:cNvPr id="124" name="Text 122"/>
          <p:cNvSpPr/>
          <p:nvPr/>
        </p:nvSpPr>
        <p:spPr>
          <a:xfrm>
            <a:off x="6400800" y="2560320"/>
            <a:ext cx="182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6629400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876288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123176" y="132588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370064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616952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863840" y="1325880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629400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876288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123176" y="1572768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370064" y="1572768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616952" y="1572768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863840" y="1572768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6629400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6876288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7123176" y="1819656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370064" y="1819656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616952" y="1819656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7863840" y="1819656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6629400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6876288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7123176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7370064" y="2066544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7616952" y="2066544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7863840" y="2066544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629400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6876288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7123176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370064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7616952" y="2313432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7863840" y="2313432"/>
            <a:ext cx="246888" cy="246888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6629400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876288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7123176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7370064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7616952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7863840" y="2560320"/>
            <a:ext cx="246888" cy="246888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640080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前缀双向 + 后缀因果</a:t>
            </a:r>
            <a:endParaRPr lang="en-US" sz="1300" dirty="0"/>
          </a:p>
        </p:txBody>
      </p:sp>
      <p:sp>
        <p:nvSpPr>
          <p:cNvPr id="162" name="Text 160"/>
          <p:cNvSpPr/>
          <p:nvPr/>
        </p:nvSpPr>
        <p:spPr>
          <a:xfrm>
            <a:off x="6400800" y="321868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LM</a:t>
            </a:r>
            <a:endParaRPr lang="en-US" sz="1000" dirty="0"/>
          </a:p>
        </p:txBody>
      </p:sp>
      <p:sp>
        <p:nvSpPr>
          <p:cNvPr id="163" name="Shape 161"/>
          <p:cNvSpPr/>
          <p:nvPr/>
        </p:nvSpPr>
        <p:spPr>
          <a:xfrm>
            <a:off x="6400800" y="3584448"/>
            <a:ext cx="24688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649224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</a:t>
            </a: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T5, GLM</a:t>
            </a:r>
            <a:r>
              <a:rPr lang="zh-CN" alt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（早期）</a:t>
            </a:r>
            <a:endParaRPr lang="en-US" sz="1100" dirty="0"/>
          </a:p>
        </p:txBody>
      </p:sp>
      <p:sp>
        <p:nvSpPr>
          <p:cNvPr id="165" name="Text 163"/>
          <p:cNvSpPr/>
          <p:nvPr/>
        </p:nvSpPr>
        <p:spPr>
          <a:xfrm>
            <a:off x="6492240" y="39502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</a:t>
            </a: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条件生成</a:t>
            </a:r>
            <a:endParaRPr lang="en-US" sz="1100" dirty="0"/>
          </a:p>
        </p:txBody>
      </p:sp>
      <p:sp>
        <p:nvSpPr>
          <p:cNvPr id="166" name="Text 164"/>
          <p:cNvSpPr/>
          <p:nvPr/>
        </p:nvSpPr>
        <p:spPr>
          <a:xfrm>
            <a:off x="6492240" y="4224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直觉：</a:t>
            </a: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前缀共享，后缀独立</a:t>
            </a:r>
            <a:endParaRPr lang="en-US" sz="1000" dirty="0"/>
          </a:p>
        </p:txBody>
      </p:sp>
      <p:sp>
        <p:nvSpPr>
          <p:cNvPr id="167" name="Text 165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Transformer 架构，换一个 Mask 矩阵，就能做完全不同的任务</a:t>
            </a:r>
            <a:endParaRPr lang="en-US" sz="1200" dirty="0"/>
          </a:p>
        </p:txBody>
      </p:sp>
      <p:sp>
        <p:nvSpPr>
          <p:cNvPr id="168" name="TextBox 16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 · 实践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 Mask 代码实现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PyTorch 实现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315468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749040" cy="3008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构造下三角矩阵 (L x L)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 = 4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torch.tril(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torch.ones(L, L)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mask[i][j] = 1 如果 j &lt;= i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    = 0 如果 j &gt; i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应用到 scores: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scores.masked_fill(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== 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float('-inf')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torch.tril(ones(4, 4))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394960" y="160020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9496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897880" y="1600200"/>
            <a:ext cx="502920" cy="502920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1600200"/>
            <a:ext cx="502920" cy="502920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394960" y="210312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897880" y="210312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903720" y="2103120"/>
            <a:ext cx="502920" cy="502920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394960" y="260604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897880" y="260604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400800" y="260604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903720" y="2606040"/>
            <a:ext cx="502920" cy="502920"/>
          </a:xfrm>
          <a:prstGeom prst="rect">
            <a:avLst/>
          </a:prstGeom>
          <a:solidFill>
            <a:srgbClr val="B8BCC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606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94960" y="310896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5897880" y="310896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8978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6400800" y="310896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903720" y="3108960"/>
            <a:ext cx="502920" cy="502920"/>
          </a:xfrm>
          <a:prstGeom prst="rect">
            <a:avLst/>
          </a:prstGeom>
          <a:solidFill>
            <a:srgbClr val="EBF4F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037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800600" y="3886200"/>
            <a:ext cx="3977640" cy="822960"/>
          </a:xfrm>
          <a:prstGeom prst="roundRect">
            <a:avLst>
              <a:gd name="adj" fmla="val 5556"/>
            </a:avLst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892040" y="393192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i 行 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第 i 个 token 能看见的位置
</a:t>
            </a:r>
            <a:r>
              <a:rPr lang="en-US" sz="1200" i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每新加一个 token，下面多出一行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 · 生成机制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自回归生成过程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 prompt：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09728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03120" y="10972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  天气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1810512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181051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今天  天气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1984248"/>
            <a:ext cx="228600" cy="256032"/>
          </a:xfrm>
          <a:prstGeom prst="rtTriangl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16459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模型前向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0" y="1810512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81051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预测第 3 个 token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05840" y="2770632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77063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今天  天气  真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06240" y="2944368"/>
            <a:ext cx="228600" cy="256032"/>
          </a:xfrm>
          <a:prstGeom prst="rtTriangl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69080" y="260604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模型前向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2770632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277063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好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834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把"真"拼回输入，预测第 4 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794760"/>
            <a:ext cx="457200" cy="45720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05840" y="3730752"/>
            <a:ext cx="30175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3730752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今天  天气  真  好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206240" y="3904488"/>
            <a:ext cx="228600" cy="256032"/>
          </a:xfrm>
          <a:prstGeom prst="rtTriangl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69080" y="356616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模型前向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730752"/>
            <a:ext cx="1371600" cy="594360"/>
          </a:xfrm>
          <a:prstGeom prst="roundRect">
            <a:avLst>
              <a:gd name="adj" fmla="val 7692"/>
            </a:avLst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3730752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&lt;EOS&gt;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12648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输出结束符 → 停止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每一步都把新生成的 token 拼回输入，再跑一次前向；Causal Mask 保证前文 embedding 不受后续 token 影响</a:t>
            </a:r>
            <a:endParaRPr lang="en-US" sz="110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02 · 小结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不同架构对应不同任务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0" cy="502920"/>
          </a:xfrm>
          <a:prstGeom prst="rect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架构类型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0" cy="594360"/>
          </a:xfrm>
          <a:prstGeom prst="rect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Mask 类型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0" cy="1051560"/>
          </a:xfrm>
          <a:prstGeom prst="rect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28600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代表模型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0" cy="1051560"/>
          </a:xfrm>
          <a:prstGeom prst="rect">
            <a:avLst/>
          </a:prstGeom>
          <a:noFill/>
          <a:ln w="1270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337560"/>
            <a:ext cx="822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典型任务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234440" y="1188720"/>
            <a:ext cx="178308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Encoder-only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234440" y="1691640"/>
            <a:ext cx="1783080" cy="59436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全可见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234440" y="228600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34440" y="22860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RoBERTa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ELECTRA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234440" y="333756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33375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句子相似度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08960" y="1188720"/>
            <a:ext cx="1783080" cy="50292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Decoder-only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108960" y="1691640"/>
            <a:ext cx="1783080" cy="59436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0896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（下三角）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108960" y="228600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22860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GPT-3/4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Llama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108960" y="333756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0" y="33375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开放生成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1188720"/>
            <a:ext cx="1783080" cy="50292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Encoder-Decoder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83480" y="1691640"/>
            <a:ext cx="1783080" cy="59436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 双向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Decoder 因果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83480" y="228600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22860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T5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983480" y="333756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3375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机器翻译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858000" y="1188720"/>
            <a:ext cx="1783080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11887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LM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858000" y="1691640"/>
            <a:ext cx="1783080" cy="594360"/>
          </a:xfrm>
          <a:prstGeom prst="rect">
            <a:avLst/>
          </a:prstGeom>
          <a:solidFill>
            <a:srgbClr val="EBF4FA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1691640"/>
            <a:ext cx="1783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前缀双向 +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后缀因果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58000" y="228600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0" y="228600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ChatGLM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858000" y="3337560"/>
            <a:ext cx="178308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0" y="3337560"/>
            <a:ext cx="1783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统一框架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 + 生成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本课后续只聚焦 Decoder-only 这一主流路线（GPT、Llama、Claude 全部属于此类）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645920"/>
            <a:ext cx="164592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从"续写"到"问答"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光有语言模型还不够  ·  SFT 的作用  ·  知识 vs 形式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 · 认识 Base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预训练模型到底学到了什么？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822960"/>
          </a:xfrm>
          <a:prstGeom prst="roundRect">
            <a:avLst>
              <a:gd name="adj" fmla="val 5556"/>
            </a:avLst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544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Token Prediction
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给定前 t 个 token, 预测第 t+1 个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模型学到的是"语料的分布规律"：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给定前文, 最可能接下来出现什么？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657600"/>
            <a:ext cx="40233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749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一句话概括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233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它是一个"概率续写器", </a:t>
            </a:r>
            <a:r>
              <a:rPr lang="en-US" sz="1300" b="1" dirty="0" err="1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不是一个"问答助手</a:t>
            </a:r>
            <a:r>
              <a:rPr lang="en-US" sz="13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Model 实际表现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00600" y="1554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40680" y="1508760"/>
            <a:ext cx="3337560" cy="365760"/>
          </a:xfrm>
          <a:prstGeom prst="roundRect">
            <a:avLst>
              <a:gd name="adj" fmla="val 12500"/>
            </a:avLst>
          </a:prstGeom>
          <a:solidFill>
            <a:srgbClr val="EBF4FA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15087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什么是人工智能？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1965960"/>
            <a:ext cx="274320" cy="274320"/>
          </a:xfrm>
          <a:prstGeom prst="downArrow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Model 输出：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2651760"/>
            <a:ext cx="3977640" cy="1143000"/>
          </a:xfrm>
          <a:prstGeom prst="roundRect">
            <a:avLst>
              <a:gd name="adj" fmla="val 4000"/>
            </a:avLst>
          </a:prstGeom>
          <a:solidFill>
            <a:srgbClr val="FBE9D6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651760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什么是机器学习？什么是深度学习？什么是神经网络？什么是大模型</a:t>
            </a: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？......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0600" y="3886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它没有回答, 而是继续"列问题"！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37760" y="4251960"/>
            <a:ext cx="3657600" cy="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43434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语料中「FAQ 标题、目录、问题集」里经常是问题后面跟更多问题</a:t>
            </a:r>
            <a:endParaRPr 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 · 能力对比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续写模型 vs 问答助手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143000"/>
            <a:ext cx="3657600" cy="457200"/>
          </a:xfrm>
          <a:prstGeom prst="roundRect">
            <a:avLst>
              <a:gd name="adj" fmla="val 12000"/>
            </a:avLst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143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相同输入：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「用一句话解释 Transformer 的核心」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4069080" cy="45720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Base Model（仅预训练）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典型输出：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379476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70632"/>
            <a:ext cx="3520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的核心是什么？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它是如何工作的？它和 RNN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有什么区别？它的应用......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794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行为特征：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延续输入的风格和话题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不知道该回答还是继续问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不知何时停下 → 一直生成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828800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828800"/>
            <a:ext cx="4069080" cy="45720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8288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 Model（SFT 之后）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23774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典型输出：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697480"/>
            <a:ext cx="3794760" cy="105156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70632"/>
            <a:ext cx="35204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Transformer 的核心是自注意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力机制：让序列中每个位置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都能直接关联到任意位置。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79476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行为特征：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理解意图, 输出"回答"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结构清晰、直达要点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说完会停下（生成 EOS）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两者用的是同一个模型架构, 甚至可以是同一套权重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区别只在于：是否经过一个叫 SFT 的再训练阶段</a:t>
            </a:r>
            <a:endParaRPr lang="en-US" sz="1100" dirty="0"/>
          </a:p>
        </p:txBody>
      </p:sp>
      <p:sp>
        <p:nvSpPr>
          <p:cNvPr id="23" name="TextBox 2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 · 方法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补齐差距：SFT（Supervised Fine-Tuning）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准备数据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大量（指令, 回答）成对数据, 人工撰写或精选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0233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37490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&lt;|user|&gt;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什么是人工智能？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&lt;|assistant|&gt;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人工智能是让机器模拟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人类智能的一系列技术...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&lt;|end|&gt;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用特殊 token 标注「谁在说话」、「哪里结束」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训练目标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00600" y="150876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仍然是 next-token prediction, 没有新结构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828800"/>
            <a:ext cx="3977640" cy="2103120"/>
          </a:xfrm>
          <a:prstGeom prst="roundRect">
            <a:avLst>
              <a:gd name="adj" fmla="val 2174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9202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关键技巧：Label Mask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22860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 部分：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只作为输入, 不计算 loss
</a:t>
            </a: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assistant 部分：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 loss, 反向传播更新参数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3017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示意：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3291840"/>
            <a:ext cx="3703320" cy="59436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74920" y="3364992"/>
            <a:ext cx="342900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 = [-100]·len(prompt)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+ input_ids[len(prompt):]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-100 位置不计入 loss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40233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为什么：我们只想让模型学会「如何回答」, 而不是让它背熟用户提问。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61772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数据规模：SFT 通常只需几万到几十万条, 远小于预训练的万亿 token</a:t>
            </a:r>
            <a:endParaRPr lang="en-US" sz="1200" dirty="0"/>
          </a:p>
        </p:txBody>
      </p:sp>
      <p:sp>
        <p:nvSpPr>
          <p:cNvPr id="22" name="TextBox 2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 · 预训练 Loss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预训练阶段的 Loss 计算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554480" cy="292608"/>
          </a:xfrm>
          <a:prstGeom prst="roundRect">
            <a:avLst>
              <a:gd name="adj" fmla="val 12500"/>
            </a:avLst>
          </a:prstGeom>
          <a:solidFill>
            <a:srgbClr val="EBF4FA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1 · 预训练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输入序列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476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46888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52044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26680" y="15727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417320" y="1783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1783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2468880" y="1783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68880" y="1783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3520440" y="1783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1783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572000" y="1783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0" y="1783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623560" y="1783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23560" y="1783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675120" y="1783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1783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726680" y="1783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1783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趣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65760" y="23957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260604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下一个 token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897380" y="2331720"/>
            <a:ext cx="0" cy="50292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948940" y="2331720"/>
            <a:ext cx="0" cy="50292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000500" y="2331720"/>
            <a:ext cx="0" cy="50292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052060" y="2331720"/>
            <a:ext cx="0" cy="50292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103620" y="2331720"/>
            <a:ext cx="0" cy="50292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155180" y="2331720"/>
            <a:ext cx="0" cy="50292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206740" y="2331720"/>
            <a:ext cx="0" cy="50292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65760" y="2971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目标标签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" y="322783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(shift left)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417320" y="2926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1732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2468880" y="2926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6888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3520440" y="2926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2044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0" y="2926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623560" y="2926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675120" y="2926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7512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趣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726680" y="2926080"/>
            <a:ext cx="960120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26680" y="2926080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&lt;EOS&gt;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365760" y="36118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 Mask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1417320" y="3611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417320" y="361188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2468880" y="3611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468880" y="361188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3520440" y="3611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520440" y="361188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572000" y="3611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72000" y="361188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623560" y="3611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23560" y="361188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675120" y="3611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75120" y="361188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726680" y="3611880"/>
            <a:ext cx="960120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726680" y="3611880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65760" y="4251960"/>
            <a:ext cx="8412480" cy="777240"/>
          </a:xfrm>
          <a:prstGeom prst="roundRect">
            <a:avLst>
              <a:gd name="adj" fmla="val 9412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431596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502920" y="45902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每个位置都是训练信号 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所有 token 都参与 cross-entropy loss 计算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02920" y="4773168"/>
            <a:ext cx="5120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训练信号密度 = </a:t>
            </a:r>
            <a:r>
              <a:rPr lang="en-US" sz="1100" b="1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5715000" y="4526280"/>
            <a:ext cx="301752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71500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CrossEntropy(logits, labels).mean()</a:t>
            </a:r>
            <a:endParaRPr lang="en-US" sz="1000" dirty="0"/>
          </a:p>
        </p:txBody>
      </p:sp>
      <p:sp>
        <p:nvSpPr>
          <p:cNvPr id="77" name="TextBox 21">
            <a:extLst>
              <a:ext uri="{FF2B5EF4-FFF2-40B4-BE49-F238E27FC236}">
                <a16:creationId xmlns:a16="http://schemas.microsoft.com/office/drawing/2014/main" id="{AB0DC2C5-5511-7E08-48F4-2836A932CE2B}"/>
              </a:ext>
            </a:extLst>
          </p:cNvPr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 · SFT Loss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阶段的 Loss 计算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1737360" cy="292608"/>
          </a:xfrm>
          <a:prstGeom prst="roundRect">
            <a:avLst>
              <a:gd name="adj" fmla="val 12500"/>
            </a:avLst>
          </a:prstGeom>
          <a:solidFill>
            <a:srgbClr val="DFF0E2"/>
          </a:solidFill>
          <a:ln w="9525">
            <a:solidFill>
              <a:srgbClr val="217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STAGE 2 · SFT 微调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输入序列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9476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input_ids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417320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185416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53512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21608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9704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i=4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257800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25896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i=6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793992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62088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i=8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30184" y="1572768"/>
            <a:ext cx="676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17320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E6E7E9"/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&lt;|user|&gt;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185416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E6E7E9"/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85416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953512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E6E7E9"/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53512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721608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E6E7E9"/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21608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489704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E6E7E9"/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89704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257800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FBE9D6"/>
          </a:solidFill>
          <a:ln w="15875">
            <a:solidFill>
              <a:srgbClr val="D472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57800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&lt;|asst|&gt;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25896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025896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793992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93992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562088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62088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8330184" y="178308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0184" y="178308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&lt;|end|&gt;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417320" y="2331720"/>
            <a:ext cx="4517136" cy="201168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17320" y="2331720"/>
            <a:ext cx="4517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/ user 部分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25896" y="2331720"/>
            <a:ext cx="2980944" cy="2011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25896" y="2331720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response / assistant 部分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6576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目标标签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65760" y="3136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(含 -100)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417320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7320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185416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185416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953512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53512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721608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21608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4489704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89704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-100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257800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7800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025896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025896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793992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93992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7562088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62088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&lt;|end|&gt;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8330184" y="2880360"/>
            <a:ext cx="676656" cy="502920"/>
          </a:xfrm>
          <a:prstGeom prst="roundRect">
            <a:avLst>
              <a:gd name="adj" fmla="val 9091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30184" y="2880360"/>
            <a:ext cx="6766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(next)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65760" y="34930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 Mask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365760" y="3749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(-100→忽略)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417320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17320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</a:t>
            </a:r>
            <a:endParaRPr lang="en-US" sz="1400" dirty="0"/>
          </a:p>
        </p:txBody>
      </p:sp>
      <p:sp>
        <p:nvSpPr>
          <p:cNvPr id="69" name="Shape 67"/>
          <p:cNvSpPr/>
          <p:nvPr/>
        </p:nvSpPr>
        <p:spPr>
          <a:xfrm>
            <a:off x="2185416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185416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2953512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953512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3721608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721608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4489704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F8DCD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89704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 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5257800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57800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025896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025896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6793992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793992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7562088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562088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8330184" y="3474720"/>
            <a:ext cx="676656" cy="438912"/>
          </a:xfrm>
          <a:prstGeom prst="roundRect">
            <a:avLst>
              <a:gd name="adj" fmla="val 10417"/>
            </a:avLst>
          </a:prstGeom>
          <a:solidFill>
            <a:srgbClr val="DFF0E2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330184" y="3474720"/>
            <a:ext cx="676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√  </a:t>
            </a:r>
            <a:endParaRPr lang="en-US" sz="1400" dirty="0"/>
          </a:p>
        </p:txBody>
      </p:sp>
      <p:sp>
        <p:nvSpPr>
          <p:cNvPr id="87" name="Shape 85"/>
          <p:cNvSpPr/>
          <p:nvPr/>
        </p:nvSpPr>
        <p:spPr>
          <a:xfrm>
            <a:off x="365760" y="4114800"/>
            <a:ext cx="8412480" cy="960120"/>
          </a:xfrm>
          <a:prstGeom prst="roundRect">
            <a:avLst>
              <a:gd name="adj" fmla="val 7619"/>
            </a:avLst>
          </a:prstGeom>
          <a:solidFill>
            <a:srgbClr val="DFF0E2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02920" y="41879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关键点</a:t>
            </a:r>
            <a:endParaRPr lang="en-US" sz="1300" dirty="0"/>
          </a:p>
        </p:txBody>
      </p:sp>
      <p:sp>
        <p:nvSpPr>
          <p:cNvPr id="89" name="Text 87"/>
          <p:cNvSpPr/>
          <p:nvPr/>
        </p:nvSpPr>
        <p:spPr>
          <a:xfrm>
            <a:off x="502920" y="446227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只有 assistant 部分的 token </a:t>
            </a:r>
            <a:r>
              <a:rPr lang="en-US" sz="1100" b="1" dirty="0" err="1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</a:t>
            </a: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loss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606117" y="475357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有效信号密度 ≈ </a:t>
            </a:r>
            <a:r>
              <a:rPr lang="en-US" sz="1100" b="1" dirty="0">
                <a:solidFill>
                  <a:srgbClr val="217B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(仅 response 部分)</a:t>
            </a:r>
            <a:endParaRPr lang="en-US" sz="1100" dirty="0"/>
          </a:p>
        </p:txBody>
      </p:sp>
      <p:sp>
        <p:nvSpPr>
          <p:cNvPr id="93" name="Shape 73">
            <a:extLst>
              <a:ext uri="{FF2B5EF4-FFF2-40B4-BE49-F238E27FC236}">
                <a16:creationId xmlns:a16="http://schemas.microsoft.com/office/drawing/2014/main" id="{BDC51BF5-EE0F-674A-01FC-021C3747C779}"/>
              </a:ext>
            </a:extLst>
          </p:cNvPr>
          <p:cNvSpPr/>
          <p:nvPr/>
        </p:nvSpPr>
        <p:spPr>
          <a:xfrm>
            <a:off x="5074920" y="4547834"/>
            <a:ext cx="3657600" cy="41148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192486" y="4526280"/>
            <a:ext cx="350084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</a:t>
            </a:r>
            <a:r>
              <a:rPr lang="en-US" sz="900" dirty="0" err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CrossEntropy</a:t>
            </a: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(logits, labels, </a:t>
            </a:r>
            <a:r>
              <a:rPr lang="en-US" sz="900" dirty="0" err="1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ignore_index</a:t>
            </a: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=-100)</a:t>
            </a:r>
            <a:endParaRPr lang="en-US" sz="900" dirty="0"/>
          </a:p>
        </p:txBody>
      </p:sp>
      <p:sp>
        <p:nvSpPr>
          <p:cNvPr id="94" name="TextBox 21">
            <a:extLst>
              <a:ext uri="{FF2B5EF4-FFF2-40B4-BE49-F238E27FC236}">
                <a16:creationId xmlns:a16="http://schemas.microsoft.com/office/drawing/2014/main" id="{96388BEB-B1B9-028F-D830-48316A26EB2F}"/>
              </a:ext>
            </a:extLst>
          </p:cNvPr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 · 本质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到底改变了什么？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406908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43000"/>
            <a:ext cx="4069080" cy="5029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430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没变的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模型架构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还是同一个 Transformer, 参数数量一模一样
</a:t>
            </a: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Mask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 Causal Mask
</a:t>
            </a: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训练目标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 next-token prediction
</a:t>
            </a: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大部分事实知识来自预训练阶段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14300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1143000"/>
            <a:ext cx="4069080" cy="50292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14300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变了的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783080"/>
            <a:ext cx="37947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输出的分布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学会了"在指令后输出回答"的模式
</a:t>
            </a: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对话协议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 &lt;|user|&gt; / &lt;|assistant|&gt; 的角色轮换
</a:t>
            </a: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停止行为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学会在回答结束时生成 &lt;|end|&gt;
</a:t>
            </a: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回答风格
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学会结构化、条理清晰、有礼貌的表达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45720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记忆点：   </a:t>
            </a:r>
            <a:r>
              <a:rPr lang="en-US" sz="14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</a:t>
            </a: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来自预训练    ·    </a:t>
            </a: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回答的形式 </a:t>
            </a:r>
            <a:r>
              <a:rPr lang="en-US" sz="13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 SFT</a:t>
            </a:r>
            <a:endParaRPr lang="en-US"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03 · 全景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训练阶段小结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594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5361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51560" y="1920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海量无标注语料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（网页、书籍、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代码... 万亿 tokens）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2743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Next-token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prediction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566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566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获得语言能力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和世界知识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37560" y="118872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188720"/>
            <a:ext cx="2697480" cy="59436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37560" y="15361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Fine-Tuning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0" y="1920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23360" y="1920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人工精选的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（指令, 回答）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几万 ~ 几十万条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74720" y="2743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23360" y="2743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Next-token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+ Label mask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74720" y="3566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3566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学会按指令回答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、理解对话协议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0" y="1188720"/>
            <a:ext cx="269748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9360" y="1188720"/>
            <a:ext cx="2697480" cy="59436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309360" y="1536192"/>
            <a:ext cx="2697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(本课不展开)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19202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192024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人类偏好数据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或反馈信号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27432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995160" y="274320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偏好学习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（多种方法）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3566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3566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更符合人类偏好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、更安全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08960" y="2697480"/>
            <a:ext cx="201168" cy="182880"/>
          </a:xfrm>
          <a:prstGeom prst="rtTriangl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80760" y="2697480"/>
            <a:ext cx="201168" cy="182880"/>
          </a:xfrm>
          <a:prstGeom prst="rtTriangl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5720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当下的问答大模型 = 海量预训练 + SFT（+ 对齐）三阶段的产物</a:t>
            </a:r>
            <a:endParaRPr lang="en-US" sz="1300" dirty="0"/>
          </a:p>
        </p:txBody>
      </p:sp>
      <p:sp>
        <p:nvSpPr>
          <p:cNvPr id="39" name="TextBox 38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1645920"/>
            <a:ext cx="164592" cy="18288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46304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E86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4688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采样策略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logits 到文字  ·  确定性 vs 多样性  ·  Temperature · Top-K · Top-P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问题引入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模型输出的是什么？下一个 token 怎么选？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32588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[3.2, 1.1, 0.8, ...]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维度 = vocab_size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645920"/>
            <a:ext cx="228600" cy="182880"/>
          </a:xfrm>
          <a:prstGeom prst="rtTriangl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17073" y="1874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softmax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4173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概率分布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0" y="1691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[0.72, 0.09, 0.06, ...]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∑ = 1, 每个值 ∈ [0,1]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645920"/>
            <a:ext cx="228600" cy="182880"/>
          </a:xfrm>
          <a:prstGeom prst="rtTriangl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87452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325880"/>
            <a:ext cx="27432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417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采样出 1 个 token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35040" y="1691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"真"  ←  这是本节课的重点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2423160"/>
            <a:ext cx="6949440" cy="548640"/>
          </a:xfrm>
          <a:prstGeom prst="roundRect">
            <a:avLst>
              <a:gd name="adj" fmla="val 1333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242316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核心问题：5 万~15 万维的概率分布中, 怎么选一个 token？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2004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 1：永远选概率最大的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36118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结果：完全确定, 完全可复现</a:t>
            </a:r>
            <a:endParaRPr lang="en-US" sz="11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问题：死板, 重复, 缺乏创造力</a:t>
            </a:r>
            <a:endParaRPr lang="en-US" sz="11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适合：代码生成、数学推理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329184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极端 2：按概率完全随机采样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46320" y="361188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结果：多样但不可控</a:t>
            </a:r>
            <a:endParaRPr lang="en-US" sz="11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问题：长尾 token 累积概率大, 容易胡言乱语</a:t>
            </a:r>
            <a:endParaRPr lang="en-US" sz="1100" dirty="0"/>
          </a:p>
          <a:p>
            <a:pPr marL="0" indent="0">
              <a:spcBef>
                <a:spcPts val="2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直接用几乎不可行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工程实践：在两者之间找平衡 → 各种采样策略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策略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Decoding  贪心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每一步选概率最大的 token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0233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01952"/>
            <a:ext cx="37490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每一步：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next_token = probs.argmax()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7432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特性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完全确定, 可复现
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容易陷入重复, 如
"I love you I love you I love you..."
</a:t>
            </a: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适合场景：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需要确定答案的任务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（代码、数学、结构化生成）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示例  (从 5 个候选中选)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83480" y="3246120"/>
            <a:ext cx="3611880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0056" y="1764792"/>
            <a:ext cx="678485" cy="148132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74336" y="1536192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28616" y="329184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35117" y="2423160"/>
            <a:ext cx="678485" cy="8229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89397" y="2194560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43677" y="329184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50178" y="2752344"/>
            <a:ext cx="678485" cy="4937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4458" y="2523744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58738" y="329184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165238" y="2916936"/>
            <a:ext cx="678485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19518" y="2688336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73798" y="329184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880299" y="3081528"/>
            <a:ext cx="678485" cy="16459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34579" y="2852928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88859" y="329184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57800" y="1417320"/>
            <a:ext cx="228600" cy="182880"/>
          </a:xfrm>
          <a:prstGeom prst="downArrow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931920"/>
            <a:ext cx="3977640" cy="822960"/>
          </a:xfrm>
          <a:prstGeom prst="roundRect">
            <a:avLst>
              <a:gd name="adj" fmla="val 5556"/>
            </a:avLst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977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选中：</a:t>
            </a:r>
            <a:r>
              <a:rPr lang="en-US" sz="14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"真"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(p = 0.45 最大)
</a:t>
            </a: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无论运行多少次, 结果永远一样</a:t>
            </a:r>
            <a:endParaRPr lang="en-US" sz="1100" dirty="0"/>
          </a:p>
        </p:txBody>
      </p:sp>
      <p:sp>
        <p:nvSpPr>
          <p:cNvPr id="32" name="TextBox 31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策略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Beam Search  束搜索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同时保留 k 条最优候选路径（beam width = k）, 选整体分数最高的序列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146304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76272"/>
            <a:ext cx="37490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 = beam_width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range(max_len):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candidates = expand_top_k(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beams, probs, k=k)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beams = keep_top_k(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candidates, by_score=True)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4023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平均质量比 greedy 高
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计算开销 × k, 容易产出「平均答案」, 缺乏惊喜
</a:t>
            </a: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机器翻译、摘要（答案有相对标准）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09728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Beam = 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92040" y="1645920"/>
            <a:ext cx="502920" cy="36576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6459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1097280"/>
            <a:ext cx="50292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0" y="109728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148132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 flipV="1">
            <a:off x="5394960" y="1325880"/>
            <a:ext cx="502919" cy="50292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0" y="1828800"/>
            <a:ext cx="502920" cy="36576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0" y="18288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0" y="221284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828800"/>
            <a:ext cx="548640" cy="182880"/>
          </a:xfrm>
          <a:prstGeom prst="line">
            <a:avLst/>
          </a:prstGeom>
          <a:noFill/>
          <a:ln w="12700">
            <a:solidFill>
              <a:srgbClr val="2E86A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2560320"/>
            <a:ext cx="502920" cy="365760"/>
          </a:xfrm>
          <a:prstGeom prst="ellipse">
            <a:avLst/>
          </a:prstGeom>
          <a:solidFill>
            <a:srgbClr val="B8BCC0"/>
          </a:solidFill>
          <a:ln w="12700">
            <a:solidFill>
              <a:srgbClr val="B8BC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25603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294436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394960" y="1828800"/>
            <a:ext cx="548640" cy="914400"/>
          </a:xfrm>
          <a:prstGeom prst="line">
            <a:avLst/>
          </a:prstGeom>
          <a:noFill/>
          <a:ln w="12700">
            <a:solidFill>
              <a:srgbClr val="B8BCC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2320" y="914400"/>
            <a:ext cx="411480" cy="320040"/>
          </a:xfrm>
          <a:prstGeom prst="ellipse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91440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589520" y="9144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72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 flipV="1">
            <a:off x="6446520" y="1143000"/>
            <a:ext cx="685800" cy="137160"/>
          </a:xfrm>
          <a:prstGeom prst="line">
            <a:avLst/>
          </a:prstGeom>
          <a:noFill/>
          <a:ln w="9525">
            <a:solidFill>
              <a:srgbClr val="D472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1554480"/>
            <a:ext cx="411480" cy="320040"/>
          </a:xfrm>
          <a:prstGeom prst="ellipse">
            <a:avLst/>
          </a:prstGeom>
          <a:solidFill>
            <a:srgbClr val="B8BCC0"/>
          </a:solidFill>
          <a:ln w="12700">
            <a:solidFill>
              <a:srgbClr val="B8BC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155448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89520" y="15544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446520" y="1280160"/>
            <a:ext cx="685800" cy="429768"/>
          </a:xfrm>
          <a:prstGeom prst="line">
            <a:avLst/>
          </a:prstGeom>
          <a:noFill/>
          <a:ln w="9525">
            <a:solidFill>
              <a:srgbClr val="B8BC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2194560"/>
            <a:ext cx="411480" cy="320040"/>
          </a:xfrm>
          <a:prstGeom prst="ellipse">
            <a:avLst/>
          </a:prstGeom>
          <a:solidFill>
            <a:srgbClr val="B8BCC0"/>
          </a:solidFill>
          <a:ln w="12700">
            <a:solidFill>
              <a:srgbClr val="B8BC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219456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589520" y="21945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446520" y="2011680"/>
            <a:ext cx="685800" cy="338328"/>
          </a:xfrm>
          <a:prstGeom prst="line">
            <a:avLst/>
          </a:prstGeom>
          <a:noFill/>
          <a:ln w="9525">
            <a:solidFill>
              <a:srgbClr val="B8BC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0" y="2834640"/>
            <a:ext cx="411480" cy="320040"/>
          </a:xfrm>
          <a:prstGeom prst="ellipse">
            <a:avLst/>
          </a:prstGeom>
          <a:solidFill>
            <a:srgbClr val="B8BCC0"/>
          </a:solidFill>
          <a:ln w="12700">
            <a:solidFill>
              <a:srgbClr val="B8BC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32320" y="2834640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589520" y="28346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446520" y="2011680"/>
            <a:ext cx="685800" cy="978408"/>
          </a:xfrm>
          <a:prstGeom prst="line">
            <a:avLst/>
          </a:prstGeom>
          <a:noFill/>
          <a:ln w="9525">
            <a:solidFill>
              <a:srgbClr val="B8BC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52160" y="3154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040880" y="3246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 (累积)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931920"/>
            <a:ext cx="3977640" cy="822960"/>
          </a:xfrm>
          <a:prstGeom prst="roundRect">
            <a:avLst>
              <a:gd name="adj" fmla="val 5556"/>
            </a:avLst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37760" y="397764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最优路径：start → A(0.5) → ?(0.4)
</a:t>
            </a:r>
            <a:r>
              <a:rPr lang="en-US" sz="1100" i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累积概率 = 0.5 × 0.4 = 0.20, 比 greedy 更稳</a:t>
            </a:r>
            <a:endParaRPr lang="en-US" sz="1100" dirty="0"/>
          </a:p>
        </p:txBody>
      </p:sp>
      <p:sp>
        <p:nvSpPr>
          <p:cNvPr id="46" name="TextBox 4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策略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 温度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0" y="1143000"/>
            <a:ext cx="457200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1143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p(i) = softmax( logits / T 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7432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0.5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更尖锐（保守）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4023360"/>
            <a:ext cx="2743200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" y="2775473"/>
            <a:ext cx="504749" cy="1247887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" y="2546873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0.80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10896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43661" y="3836177"/>
            <a:ext cx="504749" cy="187183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7941" y="3607577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52221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84986" y="3945367"/>
            <a:ext cx="504749" cy="77993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9266" y="3716767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93546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糟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26310" y="3992163"/>
            <a:ext cx="504749" cy="31197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980590" y="3763563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934870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567635" y="4007761"/>
            <a:ext cx="504749" cy="15599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1915" y="3779161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476195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0" y="1874520"/>
            <a:ext cx="2743200" cy="41148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1.0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原始分布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4023360"/>
            <a:ext cx="2743200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36976" y="3321424"/>
            <a:ext cx="504749" cy="701936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91256" y="3092824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145536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778301" y="3633395"/>
            <a:ext cx="504749" cy="389965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32581" y="3404795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686861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319626" y="3789381"/>
            <a:ext cx="504749" cy="233979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73906" y="3560781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228186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60950" y="3867374"/>
            <a:ext cx="504749" cy="15598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5230" y="3638774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769510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02275" y="3945367"/>
            <a:ext cx="504749" cy="77993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56555" y="3716767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310835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35040" y="1874520"/>
            <a:ext cx="2743200" cy="41148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2.0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035040" y="2331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更平坦（发散）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035040" y="4023360"/>
            <a:ext cx="2743200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71616" y="3586600"/>
            <a:ext cx="504749" cy="43676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25896" y="3358000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0.28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980176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612941" y="3680191"/>
            <a:ext cx="504749" cy="343169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7221" y="3451591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21501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54266" y="3711388"/>
            <a:ext cx="504749" cy="3119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08546" y="3482788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0.20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062826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糟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695590" y="3758184"/>
            <a:ext cx="504749" cy="26517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649870" y="3529584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0.17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604150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236915" y="3820578"/>
            <a:ext cx="504749" cy="20278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191195" y="3591978"/>
            <a:ext cx="5961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0.13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8145475" y="4069080"/>
            <a:ext cx="68762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365760" y="4572000"/>
            <a:ext cx="8412480" cy="502920"/>
          </a:xfrm>
          <a:prstGeom prst="roundRect">
            <a:avLst>
              <a:gd name="adj" fmla="val 9091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T↓  →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分布更尖锐, 偏好高概率 token</a:t>
            </a:r>
            <a:r>
              <a:rPr lang="en-US" sz="13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|    T↑  →  </a:t>
            </a: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分布更均匀, 低概率 token 也可能被选</a:t>
            </a:r>
            <a:endParaRPr lang="en-US" sz="1300" dirty="0"/>
          </a:p>
        </p:txBody>
      </p:sp>
      <p:sp>
        <p:nvSpPr>
          <p:cNvPr id="66" name="TextBox 65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策略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Top-K 采样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只从概率最高的 K 个 token 中采样, 其余 token 的概率置零后重新归一化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169164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176272"/>
            <a:ext cx="3749040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 = 50 为常见默认值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topk_vals, topk_idx = 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probs.topk(K, dim=-1)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= zeros_like(probs)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probs[topk_idx] = topk_vals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probs = probs / probs.sum()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next_token = sample(probs)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88620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切掉长尾, 避免胡言乱语
</a:t>
            </a: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是固定数, 不适配分布形态：</a:t>
            </a:r>
            <a:endParaRPr lang="en-US" sz="1100" dirty="0"/>
          </a:p>
          <a:p>
            <a:pPr marL="0" indent="0">
              <a:spcBef>
                <a:spcPts val="300"/>
              </a:spcBef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尖锐分布 K=50 太宽松, 平坦分布 K=50 又太紧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 = 3 时, 只从前 3 个中采样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83480" y="2926080"/>
            <a:ext cx="3611880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0056" y="1773936"/>
            <a:ext cx="678485" cy="11521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545336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28616" y="297180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35117" y="2286000"/>
            <a:ext cx="678485" cy="6400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9397" y="2057400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43677" y="297180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50178" y="2542032"/>
            <a:ext cx="678485" cy="3840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4458" y="2313432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8738" y="297180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糟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65238" y="2670048"/>
            <a:ext cx="678485" cy="256032"/>
          </a:xfrm>
          <a:prstGeom prst="rect">
            <a:avLst/>
          </a:prstGeom>
          <a:solidFill>
            <a:srgbClr val="B8BCC0"/>
          </a:solidFill>
          <a:ln w="12700">
            <a:solidFill>
              <a:srgbClr val="B8BC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9518" y="2441448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73798" y="297180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80299" y="2798064"/>
            <a:ext cx="678485" cy="128016"/>
          </a:xfrm>
          <a:prstGeom prst="rect">
            <a:avLst/>
          </a:prstGeom>
          <a:solidFill>
            <a:srgbClr val="B8BCC0"/>
          </a:solidFill>
          <a:ln w="12700">
            <a:solidFill>
              <a:srgbClr val="B8BC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34579" y="2569464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8859" y="297180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145385" y="1645920"/>
            <a:ext cx="0" cy="164592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178040" y="32918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K=3 截断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749040"/>
            <a:ext cx="3977640" cy="1005840"/>
          </a:xfrm>
          <a:prstGeom prst="roundRect">
            <a:avLst>
              <a:gd name="adj" fmla="val 4545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2219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归一化后（前 3 个重分配 100%）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真 : 0.53   |   好 : 0.29   |   糟 : 0.18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0" y="4370832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然后在这 3 个里按比例随机采样</a:t>
            </a:r>
            <a:endParaRPr lang="en-US" sz="1000" dirty="0"/>
          </a:p>
        </p:txBody>
      </p:sp>
      <p:sp>
        <p:nvSpPr>
          <p:cNvPr id="34" name="TextBox 33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策略 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Top-P / Nucleus 采样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按概率从大到小排序, 选累积概率第一次达到 P 的最小集合, 再重新归一化采样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4023360" cy="210312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267712"/>
            <a:ext cx="374904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 = 0.9 常见默认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sorted_p, idx = probs.sort(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descending=True)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cumsum = sorted_p.cumsum(-1)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 = cumsum &lt;= 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mask[..., 0] = True  # 至少保留 1 个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= sorted_p * mask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= keep / keep.sum()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next_token = sample(keep, idx)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4389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优点：</a:t>
            </a: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候选数随分布形态自动调整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0.9 的示意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983480" y="2880360"/>
            <a:ext cx="3611880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0056" y="1728216"/>
            <a:ext cx="678485" cy="1152144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74336" y="1499616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0.45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28616" y="292608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35117" y="2240280"/>
            <a:ext cx="678485" cy="64008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89397" y="2011680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0.25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43677" y="292608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50178" y="2496312"/>
            <a:ext cx="678485" cy="38404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4458" y="2267712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0.15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358738" y="292608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糟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65238" y="2624328"/>
            <a:ext cx="678485" cy="256032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19518" y="2395728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073798" y="292608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880299" y="2752344"/>
            <a:ext cx="678485" cy="128016"/>
          </a:xfrm>
          <a:prstGeom prst="rect">
            <a:avLst/>
          </a:prstGeom>
          <a:solidFill>
            <a:srgbClr val="B8BCC0"/>
          </a:solidFill>
          <a:ln w="12700">
            <a:solidFill>
              <a:srgbClr val="B8BC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34579" y="2523744"/>
            <a:ext cx="76992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788859" y="2926080"/>
            <a:ext cx="86136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28616" y="3154680"/>
            <a:ext cx="8613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Σ=0.45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643677" y="3154680"/>
            <a:ext cx="8613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Σ=0.70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58738" y="3154680"/>
            <a:ext cx="8613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Σ=0.85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073798" y="3154680"/>
            <a:ext cx="8613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Σ=0.95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88859" y="3154680"/>
            <a:ext cx="86136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Σ=1.00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00600" y="3520440"/>
            <a:ext cx="3977640" cy="502920"/>
          </a:xfrm>
          <a:prstGeom prst="roundRect">
            <a:avLst>
              <a:gd name="adj" fmla="val 9091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352044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累积到 0.95 ≥ 0.9 时停止, 保留 {真,好,糟,热} 4 个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4160520"/>
            <a:ext cx="397764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DEDED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4160520"/>
            <a:ext cx="3703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尖锐分布: </a:t>
            </a: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Top-P 只留 1-2 个（严控）
</a:t>
            </a: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平坦分布: </a:t>
            </a: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Top-P 自动放宽到 10+ 个（多样）</a:t>
            </a:r>
            <a:endParaRPr lang="en-US" sz="1000" dirty="0"/>
          </a:p>
        </p:txBody>
      </p:sp>
      <p:sp>
        <p:nvSpPr>
          <p:cNvPr id="37" name="TextBox 3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实践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组合使用 &amp; 参数搭配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OpenAI / Anthropic API 常见参数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457200"/>
          </a:xfrm>
          <a:prstGeom prst="rect">
            <a:avLst/>
          </a:prstGeom>
          <a:solidFill>
            <a:srgbClr val="F5F5F5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2]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651760" y="1554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控制分布尖锐度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402336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[0, 1]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5176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Nucleus 累积阈值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023360" cy="457200"/>
          </a:xfrm>
          <a:prstGeom prst="rect">
            <a:avLst/>
          </a:prstGeom>
          <a:solidFill>
            <a:srgbClr val="F5F5F5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∞)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651760" y="2560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候选数上限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402336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63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整数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3063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最大生成长度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023360" cy="457200"/>
          </a:xfrm>
          <a:prstGeom prst="rect">
            <a:avLst/>
          </a:prstGeom>
          <a:solidFill>
            <a:srgbClr val="F5F5F5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5661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字符串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51760" y="3566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遇到即停止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场景建议（典型参数）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800600" y="1554480"/>
            <a:ext cx="39776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1554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代码生成 / 数学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T=0.1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P=0.9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55280" y="15544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高确定性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2057400"/>
            <a:ext cx="39776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2057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事实问答 / 摘要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5379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T=0.3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223760" y="2057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P=0.9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55280" y="2057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偏保守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2560320"/>
            <a:ext cx="39776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9204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 / 助手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3796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T=0.7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223760" y="2560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P=0.9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5280" y="25603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3063240"/>
            <a:ext cx="39776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3063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创意写作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53796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T=1.0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22376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P=0.95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955280" y="306324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多样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800600" y="3566160"/>
            <a:ext cx="3977640" cy="457200"/>
          </a:xfrm>
          <a:prstGeom prst="rect">
            <a:avLst/>
          </a:prstGeom>
          <a:solidFill>
            <a:srgbClr val="FFFFFF"/>
          </a:solidFill>
          <a:ln w="3175">
            <a:solidFill>
              <a:srgbClr val="DEDE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9204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头脑风暴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53796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T=1.3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22376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P=0.95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955280" y="35661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发散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65760" y="45262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452628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经验法则：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一般 </a:t>
            </a:r>
            <a:r>
              <a:rPr lang="en-US" sz="12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先固定 top_p = 0.9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, 只用 </a:t>
            </a:r>
            <a:r>
              <a:rPr lang="en-US" sz="12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</a:t>
            </a: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调节风格</a:t>
            </a:r>
            <a:endParaRPr lang="en-US" sz="1300" dirty="0"/>
          </a:p>
        </p:txBody>
      </p:sp>
      <p:sp>
        <p:nvSpPr>
          <p:cNvPr id="55" name="TextBox 54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实践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代码示例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43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从零实现（示意）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402336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374904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torch.nn.functional as F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sample(logits, T=0.7,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top_k=50, top_p=0.9):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temperature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logits / 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top-k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v, _ = logits.topk(top_k)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logits[logits &lt; v[-1]] = -inf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softmax → top-p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probs = F.softmax(logits, -1)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probs = apply_top_p(probs,top_p)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4. 按概率采样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torch.multinomial(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probs, num_samples=1)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143000"/>
            <a:ext cx="0" cy="3657600"/>
          </a:xfrm>
          <a:prstGeom prst="line">
            <a:avLst/>
          </a:prstGeom>
          <a:noFill/>
          <a:ln w="6350">
            <a:solidFill>
              <a:srgbClr val="DE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1430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用 HuggingFace transformers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00600" y="1554480"/>
            <a:ext cx="3977640" cy="3246120"/>
          </a:xfrm>
          <a:prstGeom prst="rect">
            <a:avLst/>
          </a:prstGeom>
          <a:solidFill>
            <a:srgbClr val="F5F5F5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627632"/>
            <a:ext cx="3703320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AutoModelForCausalLM,\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AutoTokenizer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 = AutoTokenizer.from_pretrained(m)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AutoModelForCausalLM\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.from_pretrained(m)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= tok(prompt, return_tensors='pt')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= model.generate(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**inputs,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do_sample=True,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temperature=0.7,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top_p=0.9,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top_k=50,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max_new_tokens=256,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注意：do_sample=False 时退化为 greedy；do_sample=True 才启用上述采样参数</a:t>
            </a:r>
            <a:endParaRPr lang="en-US" sz="1100" dirty="0"/>
          </a:p>
        </p:txBody>
      </p:sp>
      <p:sp>
        <p:nvSpPr>
          <p:cNvPr id="13" name="TextBox 12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04 · 小结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本节小结：采样策略全景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069080" cy="457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154680" y="1261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 argmax  ·  不可逆  ·  代码/数学首选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188720"/>
            <a:ext cx="4069080" cy="45720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18872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Beam Search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126187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高质量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178308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k 条路径  ·  翻译摘要首选  ·  不适合创意生成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80360"/>
            <a:ext cx="4069080" cy="45720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880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+ Top-P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154680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主流组合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34747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调尖锐度, P 切掉长尾  ·  对话/助手默认  ·  推荐起点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2880360"/>
            <a:ext cx="406908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2880360"/>
            <a:ext cx="4069080" cy="45720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880360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2953512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74720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固定候选数  ·  常和 Top-P 叠加  ·  作兜底上限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5720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5720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采样策略决定生成风格：确定性 ↔ 多样性的工程权衡</a:t>
            </a:r>
            <a:endParaRPr lang="en-US" sz="1300" dirty="0"/>
          </a:p>
        </p:txBody>
      </p:sp>
      <p:sp>
        <p:nvSpPr>
          <p:cNvPr id="27" name="TextBox 2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05 · 总览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全景回顾：一张图看懂大模型问答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6666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1920240" cy="5029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7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Encoder-only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双向 Attention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1737360" cy="2286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011680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2468880" y="1938528"/>
            <a:ext cx="137160" cy="146304"/>
          </a:xfrm>
          <a:prstGeom prst="rtTriangl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51760" y="1280160"/>
            <a:ext cx="1920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1280160"/>
            <a:ext cx="1920240" cy="5029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51760" y="1307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 LM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Decoder-only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 Mask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0" y="2423160"/>
            <a:ext cx="1737360" cy="2286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获得语言能力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2011680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1938528"/>
            <a:ext cx="137160" cy="146304"/>
          </a:xfrm>
          <a:prstGeom prst="rtTriangl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1280160"/>
            <a:ext cx="1920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217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280160"/>
            <a:ext cx="1920240" cy="502920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07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93776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指令-回答数据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423160"/>
            <a:ext cx="1737360" cy="2286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学会回答形式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766560" y="2011680"/>
            <a:ext cx="164592" cy="0"/>
          </a:xfrm>
          <a:prstGeom prst="line">
            <a:avLst/>
          </a:prstGeom>
          <a:noFill/>
          <a:ln w="12700">
            <a:solidFill>
              <a:srgbClr val="6666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58000" y="1938528"/>
            <a:ext cx="137160" cy="146304"/>
          </a:xfrm>
          <a:prstGeom prst="rtTriangle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0880" y="1280160"/>
            <a:ext cx="19202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5875">
            <a:solidFill>
              <a:srgbClr val="D4720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40880" y="1280160"/>
            <a:ext cx="1920240" cy="502920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3075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132320" y="18745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/ Top-P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 Top-K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132320" y="2423160"/>
            <a:ext cx="1737360" cy="228600"/>
          </a:xfrm>
          <a:prstGeom prst="rect">
            <a:avLst/>
          </a:prstGeom>
          <a:solidFill>
            <a:srgbClr val="EBF4FA"/>
          </a:solidFill>
          <a:ln w="12700">
            <a:solidFill>
              <a:srgbClr val="DEDED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32320" y="242316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调风格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2834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（不适合生成）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3069777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从"理解"架构 → 切换到"生成"架构 → 对齐成"问答"行为 → 调节"风格"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566160"/>
            <a:ext cx="2697480" cy="1188720"/>
          </a:xfrm>
          <a:prstGeom prst="roundRect">
            <a:avLst>
              <a:gd name="adj" fmla="val 3846"/>
            </a:avLst>
          </a:prstGeom>
          <a:solidFill>
            <a:srgbClr val="EBF4FA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86A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Mask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7200" y="4069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控制「谁能看见谁」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三种模式 → 不同任务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46120" y="3566160"/>
            <a:ext cx="2697480" cy="1188720"/>
          </a:xfrm>
          <a:prstGeom prst="roundRect">
            <a:avLst>
              <a:gd name="adj" fmla="val 3846"/>
            </a:avLst>
          </a:prstGeom>
          <a:solidFill>
            <a:srgbClr val="EBF4FA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3756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7B4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微调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337560" y="4069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知识不变, 行为改变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让续写变成问答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566160"/>
            <a:ext cx="2697480" cy="1188720"/>
          </a:xfrm>
          <a:prstGeom prst="roundRect">
            <a:avLst>
              <a:gd name="adj" fmla="val 3846"/>
            </a:avLst>
          </a:prstGeom>
          <a:solidFill>
            <a:srgbClr val="EBF4F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6576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720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采样策略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17920" y="40690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从概率分布到 token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 vs 多样性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65760" y="3331032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本课三个核心机制</a:t>
            </a:r>
            <a:endParaRPr lang="en-US" sz="1100" dirty="0"/>
          </a:p>
        </p:txBody>
      </p:sp>
      <p:sp>
        <p:nvSpPr>
          <p:cNvPr id="47" name="TextBox 46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A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05 · 要点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关键要点  Recap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412480" cy="0"/>
          </a:xfrm>
          <a:prstGeom prst="line">
            <a:avLst/>
          </a:prstGeom>
          <a:noFill/>
          <a:ln w="9525">
            <a:solidFill>
              <a:srgbClr val="DEDE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2296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188720" y="1188720"/>
            <a:ext cx="7589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5880" y="124358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BERT 不适合生成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149961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预训练目标是填空、注意力是双向、输出长度固定 —— 三点决定了 BERT 做生成天生不顺手。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01952"/>
            <a:ext cx="822960" cy="65836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188720" y="1901952"/>
            <a:ext cx="7589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25880" y="1956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 Mask 决定任务类型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2212848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 Transformer 架构, 换一个 L×L 矩阵就能从「理解模型」变成「生成模型」：全可见 = BERT, 下三角 = GPT。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615184"/>
            <a:ext cx="822960" cy="6583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615184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1188720" y="2615184"/>
            <a:ext cx="7589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25880" y="2670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 LM 只是「续写器」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29260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预训练模型能接龙但不会回答。SFT 用（指令, 回答）数据教会它「遇到问题输出回答, 并在合适位置停下」。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328416"/>
            <a:ext cx="822960" cy="658368"/>
          </a:xfrm>
          <a:prstGeom prst="rect">
            <a:avLst/>
          </a:prstGeom>
          <a:solidFill>
            <a:srgbClr val="217B45"/>
          </a:solidFill>
          <a:ln w="12700">
            <a:solidFill>
              <a:srgbClr val="217B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328416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188720" y="3328416"/>
            <a:ext cx="7589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2588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vs 形式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363931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预训练阶段学到的是「知识」, SFT 阶段学到的是「回答的形式」。两者不可互换。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041648"/>
            <a:ext cx="822960" cy="658368"/>
          </a:xfrm>
          <a:prstGeom prst="rect">
            <a:avLst/>
          </a:prstGeom>
          <a:solidFill>
            <a:srgbClr val="D4720A"/>
          </a:solidFill>
          <a:ln w="12700">
            <a:solidFill>
              <a:srgbClr val="D47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04164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1188720" y="4041648"/>
            <a:ext cx="75895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E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25880" y="4096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采样策略 = 工程选择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325880" y="435254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Greedy / Beam / Temperature / Top-K / Top-P 各有适用场景。常用组合：temperature + top_p, 根据任务调温度。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能把这 5 条讲清楚, 你就理解了当下所有主流 Chat LLM 的工作原理</a:t>
            </a:r>
            <a:endParaRPr lang="en-US" sz="1200" dirty="0"/>
          </a:p>
        </p:txBody>
      </p:sp>
      <p:sp>
        <p:nvSpPr>
          <p:cNvPr id="31" name="TextBox 30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548640"/>
            <a:ext cx="109728" cy="40233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还没讲的话题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8686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  |  Discussion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7315200" cy="0"/>
          </a:xfrm>
          <a:prstGeom prst="line">
            <a:avLst/>
          </a:prstGeom>
          <a:noFill/>
          <a:ln w="19050">
            <a:solidFill>
              <a:srgbClr val="2E86A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96596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2A4A74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对齐阶段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313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如何让模型更符合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人类偏好与安全要求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0" y="196596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2A4A74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长上下文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313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位置编码外推、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稀疏注意力等技术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96596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2A4A74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39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推理优化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31343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Cache、量化、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并行解码等工程实践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297180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2A4A74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3192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让大模型理解图像、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音频、视频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0" y="297180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2A4A74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749040" y="33192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让模型调用工具、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完成复杂任务链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2971800"/>
            <a:ext cx="2286000" cy="868680"/>
          </a:xfrm>
          <a:prstGeom prst="roundRect">
            <a:avLst>
              <a:gd name="adj" fmla="val 5263"/>
            </a:avLst>
          </a:prstGeom>
          <a:solidFill>
            <a:srgbClr val="2A4A74"/>
          </a:solidFill>
          <a:ln w="6350">
            <a:solidFill>
              <a:srgbClr val="2E86A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0449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31927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如何客观评价一个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大模型的能力与安全性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160520"/>
            <a:ext cx="7315200" cy="0"/>
          </a:xfrm>
          <a:prstGeom prst="line">
            <a:avLst/>
          </a:prstGeom>
          <a:noFill/>
          <a:ln w="9525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343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  ·  欢迎提问与讨论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9C4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进阶课程 — 大语言模型如何完成问答</a:t>
            </a:r>
            <a:endParaRPr lang="en-US" sz="1100" dirty="0"/>
          </a:p>
        </p:txBody>
      </p:sp>
      <p:sp>
        <p:nvSpPr>
          <p:cNvPr id="28" name="TextBox 27"/>
          <p:cNvSpPr txBox="1"/>
          <p:nvPr/>
        </p:nvSpPr>
        <p:spPr>
          <a:xfrm>
            <a:off x="7178040" y="13716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FFAAAA"/>
                </a:solidFill>
              </a:rPr>
              <a:t>八斗学院出品</a:t>
            </a:r>
          </a:p>
          <a:p>
            <a:pPr algn="ctr"/>
            <a:r>
              <a:rPr sz="1200" b="1">
                <a:solidFill>
                  <a:srgbClr val="FFAAAA"/>
                </a:solidFill>
              </a:rPr>
              <a:t>盗版必究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3036</Words>
  <Application>Microsoft Office PowerPoint</Application>
  <PresentationFormat>全屏显示(16:9)</PresentationFormat>
  <Paragraphs>896</Paragraphs>
  <Slides>33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7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zimo Yin</cp:lastModifiedBy>
  <cp:revision>10</cp:revision>
  <dcterms:created xsi:type="dcterms:W3CDTF">2026-05-11T02:34:55Z</dcterms:created>
  <dcterms:modified xsi:type="dcterms:W3CDTF">2026-05-11T12:57:29Z</dcterms:modified>
</cp:coreProperties>
</file>