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996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7271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3474720"/>
            <a:ext cx="2560320" cy="16687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474720"/>
            <a:ext cx="1645920" cy="1668780"/>
          </a:xfrm>
          <a:prstGeom prst="rect">
            <a:avLst/>
          </a:prstGeom>
          <a:solidFill>
            <a:srgbClr val="1A6F99"/>
          </a:solidFill>
          <a:ln w="12700">
            <a:solidFill>
              <a:srgbClr val="1A6F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· 序列标注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序列标注任务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Labeling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2999232"/>
            <a:ext cx="5029200" cy="27432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1546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基础定义  ·  NLP应用  ·  深入NER  ·  CRF解码  ·  评估方法  ·  LLM对比</a:t>
            </a:r>
            <a:endParaRPr lang="en-US" sz="1300" dirty="0"/>
          </a:p>
        </p:txBody>
      </p:sp>
      <p:sp>
        <p:nvSpPr>
          <p:cNvPr id="11" name="TextBox 1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序列标注基础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核心定义  ·  形式化表达  ·  与分类任务的区别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序列标注基础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什么是序列标注？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核心定义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给定一个输入序列，为序列中的每一个元素分配一个标签，输出序列与输入序列等长。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4023360" cy="47548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157984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(x₁, x₂, …, xₙ)  →  Y = (y₁, y₂, …, yₙ)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6700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与分类任务的区别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17520"/>
          <a:ext cx="4023360" cy="138988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文本分类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序列标注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输出粒度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一个序列一个标签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每个 token 一个标签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输出长度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固定为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与输入等长（n 个）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典型任务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情感分析、主题分类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NER、分词、POS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617720" y="1097280"/>
            <a:ext cx="27432" cy="374904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10972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直观示例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800600" y="1481328"/>
            <a:ext cx="3977640" cy="25603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0328" y="149961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 1：命名实体识别（NER）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1755648"/>
            <a:ext cx="397764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184708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输入: 马云 创立 了 阿里巴巴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标签: B-PER O O B-ORG I-ORG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00600" y="2523744"/>
            <a:ext cx="3977640" cy="25603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10328" y="25420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 2：中文分词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00600" y="2798064"/>
            <a:ext cx="397764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37760" y="2889504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输入: 我 爱 北 京 天 安 门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标签: S  S  B  E  B  I  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566160"/>
            <a:ext cx="3977640" cy="1234440"/>
          </a:xfrm>
          <a:prstGeom prst="rect">
            <a:avLst/>
          </a:prstGeom>
          <a:solidFill>
            <a:srgbClr val="FFF8F0"/>
          </a:solidFill>
          <a:ln w="12700">
            <a:solidFill>
              <a:srgbClr val="E8C87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37760" y="3639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关键特征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37760" y="393192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输入与输出严格等长（n to n）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标签之间存在依赖关系（BIO 约束）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上下文信息对预测至关重要</a:t>
            </a:r>
            <a:endParaRPr lang="en-US" sz="1150" dirty="0"/>
          </a:p>
        </p:txBody>
      </p:sp>
      <p:sp>
        <p:nvSpPr>
          <p:cNvPr id="24" name="TextBox 23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中的典型应用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中文分词  ·  词性标注  ·  命名实体识别  ·  其他任务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NLP 中的典型应用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中文分词（Tokenization）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任务定义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将连续汉字序列切分为有意义的词语单元，是中文 NLP 的基础预处理步骤。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BIES 标注体系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65760" y="2322576"/>
          <a:ext cx="4023360" cy="155448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含义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词语的起始字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词语的中间字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词语的结束字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单字成词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39502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简化体系（也常用）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41879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词首，I = 词内其余字（无 E/S，更简洁）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17720" y="1097280"/>
            <a:ext cx="27432" cy="384048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109728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标注示例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800600" y="1417320"/>
            <a:ext cx="397764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0" y="150876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句子：我  爱  北  京  天  安  门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BIES：S   S   B   E   B   I   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分词：我 | 爱 | 北京 | 天安门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00600" y="242316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为什么用字符级标注？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00600" y="2724912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中文无天然分隔符，字级建模更统一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新词/未登录词（OOV）处理更鲁棒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与 NER 等任务共享相同框架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800600" y="3657600"/>
            <a:ext cx="397764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10328" y="36758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示例（jieba 分词对比）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800600" y="3913632"/>
            <a:ext cx="397764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37760" y="4005072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jieba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jieba.lcut('我爱北京天安门')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['我','爱','北京','天安门']</a:t>
            </a:r>
            <a:endParaRPr lang="en-US" sz="1100" dirty="0"/>
          </a:p>
        </p:txBody>
      </p:sp>
      <p:sp>
        <p:nvSpPr>
          <p:cNvPr id="21" name="TextBox 2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NLP 中的典型应用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词性标注（POS Tagging）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任务定义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为句子中每个词（或字）分配其在该上下文中的语法类别（词性），是句法分析的基础。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常见词性标签（PKU 标注体系）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65760" y="2359152"/>
          <a:ext cx="4023360" cy="224028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词性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示例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名词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北京、公司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动词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创立、发展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形容词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优秀、快速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副词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非常、已经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马云、李明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北京、上海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617720" y="1097280"/>
            <a:ext cx="27432" cy="374904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0600" y="109728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标注示例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417320"/>
            <a:ext cx="397764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150876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输入: 马云  创立  了  阿里巴巴  公司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词性: nr    v     u  nz        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(人名)(动词)(助词)(专名)(名词)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00600" y="251460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与分词的关系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00600" y="281635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实际系统中常联合建模（分词+词性同步输出）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词性为下游任务提供结构化特征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BERT 时代：词性标注可作为序列标注微调任务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00600" y="3822192"/>
            <a:ext cx="397764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10328" y="3895344"/>
            <a:ext cx="3758184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分词  →  词性标注  →  NER / 句法分析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（典型 NLP 流水线前处理）</a:t>
            </a:r>
            <a:endParaRPr lang="en-US" sz="1150" dirty="0"/>
          </a:p>
        </p:txBody>
      </p:sp>
      <p:sp>
        <p:nvSpPr>
          <p:cNvPr id="17" name="TextBox 1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NLP 中的典型应用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命名实体识别（NER）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标注体系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65760" y="1417320"/>
          <a:ext cx="4023360" cy="117043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含义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实体的起始 token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实体的内部 token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非实体 token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2633472"/>
            <a:ext cx="402336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72491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马  云  创  立  阿  里  巴  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B-  I-  O   O  B-  I-  I-  I-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PER        ORG ORG ORG ORG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37307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BIOES 标注体系（更精细）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40233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 E（End）和 S（Single）标签，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明确边界，对单字实体区分更清晰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17720" y="1097280"/>
            <a:ext cx="27432" cy="374904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109728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BIOES 标注示例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800600" y="1417320"/>
            <a:ext cx="397764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0" y="150876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马    云   创  立  阿  里  巴   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B-PER E-PER O  O  B-  I-  I-   E-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ORG ORG ORG  ORG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00600" y="251460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常见实体类型（CoNLL 标准）</a:t>
            </a:r>
            <a:endParaRPr lang="en-US" sz="1300" dirty="0"/>
          </a:p>
        </p:txBody>
      </p:sp>
      <p:graphicFrame>
        <p:nvGraphicFramePr>
          <p:cNvPr id="16" name="Table 1"/>
          <p:cNvGraphicFramePr>
            <a:graphicFrameLocks noGrp="1"/>
          </p:cNvGraphicFramePr>
          <p:nvPr/>
        </p:nvGraphicFramePr>
        <p:xfrm>
          <a:off x="4800600" y="2834640"/>
          <a:ext cx="3977640" cy="15544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类型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示例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马云、李明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北京、上海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机构名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阿里巴巴、清华大学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其他专名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iPhone 15、NBA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4800600" y="44622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Part 3 将深入讨论 NER 作为泛信息抽取能力</a:t>
            </a:r>
            <a:endParaRPr lang="en-US" sz="1050" dirty="0"/>
          </a:p>
        </p:txBody>
      </p:sp>
      <p:sp>
        <p:nvSpPr>
          <p:cNvPr id="18" name="TextBox 1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NLP 中的典型应用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序列标注的其他 NLP 应用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023360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33856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语义角色标注（SRL）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444752"/>
            <a:ext cx="3803904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标注谓词-论元结构：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谁(ARG0) 对谁(ARG1) 做了什么(V)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示例：[马云]A0 [创立]V [阿里巴巴]A1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097280"/>
            <a:ext cx="4160520" cy="13716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097280"/>
            <a:ext cx="4160520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1133856"/>
            <a:ext cx="3941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依存句法分析（简化视角）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27448" y="1444752"/>
            <a:ext cx="3941064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可将 Head 预测转化为序列标注：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每个词标注其 Head 词的位置偏移量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简化版 Arc-Eager 解析器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023360" cy="13716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06040"/>
            <a:ext cx="4023360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642616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 / 短语抽取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2953512"/>
            <a:ext cx="3803904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将关键词标注为 B/I，非关键词为 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输出等长标签 → 抽取关键 span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也可结合置信度排序输出 Top-K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606040"/>
            <a:ext cx="4160520" cy="13716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2606040"/>
            <a:ext cx="4160520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2642616"/>
            <a:ext cx="3941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事件抽取（Event Extraction）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27448" y="2953512"/>
            <a:ext cx="3941064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触发词识别：找到事件的核心动词/名词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论元抽取：标注参与者、时间、地点等角色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本质也是多类别序列标注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2062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共同本质：定义标注体系  →  标注训练数据  →  训练序列标注模型  →  解码输出</a:t>
            </a:r>
            <a:endParaRPr lang="en-US" sz="1300" dirty="0"/>
          </a:p>
        </p:txBody>
      </p:sp>
      <p:sp>
        <p:nvSpPr>
          <p:cNvPr id="23" name="TextBox 2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NER：泛信息抽取能力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打破固有认知  ·  业务场景  ·  标注体系设计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NER：泛信息抽取能力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传统认知的局限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338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常见误解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4023360" cy="457200"/>
          </a:xfrm>
          <a:prstGeom prst="rect">
            <a:avLst/>
          </a:prstGeom>
          <a:solidFill>
            <a:srgbClr val="FDF2F2"/>
          </a:solidFill>
          <a:ln w="12700">
            <a:solidFill>
              <a:srgbClr val="E8BC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3619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NER 只能识别人名、地名、机构名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4023360" cy="457200"/>
          </a:xfrm>
          <a:prstGeom prst="rect">
            <a:avLst/>
          </a:prstGeom>
          <a:solidFill>
            <a:srgbClr val="FDF2F2"/>
          </a:solidFill>
          <a:ln w="12700">
            <a:solidFill>
              <a:srgbClr val="E8BC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848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r>
              <a:rPr lang="en-US" sz="1200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实体类型是固定的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4023360" cy="457200"/>
          </a:xfrm>
          <a:prstGeom prst="rect">
            <a:avLst/>
          </a:prstGeom>
          <a:solidFill>
            <a:srgbClr val="FDF2F2"/>
          </a:solidFill>
          <a:ln w="12700">
            <a:solidFill>
              <a:srgbClr val="E8BC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3347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只有专有名词才算实体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127248"/>
            <a:ext cx="4023360" cy="457200"/>
          </a:xfrm>
          <a:prstGeom prst="rect">
            <a:avLst/>
          </a:prstGeom>
          <a:solidFill>
            <a:srgbClr val="FDF2F2"/>
          </a:solidFill>
          <a:ln w="12700">
            <a:solidFill>
              <a:srgbClr val="E8BC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8211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不同业务需要完全不同的方法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1097280"/>
            <a:ext cx="27432" cy="374904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097280"/>
            <a:ext cx="3977640" cy="34747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1338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正确理解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1481328"/>
            <a:ext cx="3977640" cy="457200"/>
          </a:xfrm>
          <a:prstGeom prst="rect">
            <a:avLst/>
          </a:prstGeom>
          <a:solidFill>
            <a:srgbClr val="F0FAF3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5361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实体 = 任意业务关心的文本 span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2029968"/>
            <a:ext cx="3977640" cy="457200"/>
          </a:xfrm>
          <a:prstGeom prst="rect">
            <a:avLst/>
          </a:prstGeom>
          <a:solidFill>
            <a:srgbClr val="F0FAF3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0848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类型由业务需求自由定义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2578608"/>
            <a:ext cx="3977640" cy="457200"/>
          </a:xfrm>
          <a:prstGeom prst="rect">
            <a:avLst/>
          </a:prstGeom>
          <a:solidFill>
            <a:srgbClr val="F0FAF3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6334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可以是术语、属性、数值、事件…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127248"/>
            <a:ext cx="3977640" cy="457200"/>
          </a:xfrm>
          <a:prstGeom prst="rect">
            <a:avLst/>
          </a:prstGeom>
          <a:solidFill>
            <a:srgbClr val="F0FAF3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1821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处理思路：定义 → 标注 → 训练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66344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的本质是通用 span 分类器，与具体实体类型无关</a:t>
            </a:r>
            <a:endParaRPr lang="en-US" sz="1300" dirty="0"/>
          </a:p>
        </p:txBody>
      </p:sp>
      <p:sp>
        <p:nvSpPr>
          <p:cNvPr id="28" name="TextBox 2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NER：泛信息抽取能力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是泛信息抽取框架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框架本质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模型学习的是：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给定上下文，判断一段连续 token 是否属于目标类别。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这个能力与[类别叫什么名字]无关。只要提供足够的标注样本，模型就能识别任意类型的 span。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4023360" cy="65836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816352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定义标签  →  人工标注  →  训练模型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三步不变，类型随业务自由替换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493008"/>
            <a:ext cx="402336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351129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自定义类型示例（医疗场景）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767328"/>
            <a:ext cx="402336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85876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患者 服用 阿司匹林 治疗 冠心病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   O    B-DRUG   O   B-DIS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097280"/>
            <a:ext cx="27432" cy="365760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09728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实体可以是任意类型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1463040"/>
            <a:ext cx="100584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5087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NER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33872" y="1463040"/>
            <a:ext cx="2944368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508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人名  地名  机构名  时间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121408"/>
            <a:ext cx="100584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16712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医疗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33872" y="2121408"/>
            <a:ext cx="2944368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21671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疾病  药品  症状  手术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779776"/>
            <a:ext cx="1005840" cy="502920"/>
          </a:xfrm>
          <a:prstGeom prst="rect">
            <a:avLst/>
          </a:prstGeom>
          <a:solidFill>
            <a:srgbClr val="8B5A00"/>
          </a:solidFill>
          <a:ln w="12700">
            <a:solidFill>
              <a:srgbClr val="8B5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82549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33872" y="2779776"/>
            <a:ext cx="2944368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82549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股票  指标  机构  事件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3438144"/>
            <a:ext cx="1005840" cy="50292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48386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电商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33872" y="3438144"/>
            <a:ext cx="2944368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348386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  型号  规格  属性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4096512"/>
            <a:ext cx="1005840" cy="502920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414223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法律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33872" y="4096512"/>
            <a:ext cx="2944368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41422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法条  罪名  当事人  证据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470916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同一套 BERT+CRF 框架，换标注数据即可迁移</a:t>
            </a:r>
            <a:endParaRPr lang="en-US" sz="1100" dirty="0"/>
          </a:p>
        </p:txBody>
      </p:sp>
      <p:sp>
        <p:nvSpPr>
          <p:cNvPr id="36" name="TextBox 3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NER：泛信息抽取能力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的业务应用场景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33472" cy="1463040"/>
          </a:xfrm>
          <a:prstGeom prst="rect">
            <a:avLst/>
          </a:prstGeom>
          <a:solidFill>
            <a:srgbClr val="F0FAF3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633472" cy="3017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3385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医疗健康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444752"/>
            <a:ext cx="24140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疾病、药品、症状识别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电子病历结构化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药物副作用监测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45536" y="1097280"/>
            <a:ext cx="2633472" cy="1463040"/>
          </a:xfrm>
          <a:prstGeom prst="rect">
            <a:avLst/>
          </a:prstGeom>
          <a:solidFill>
            <a:srgbClr val="FFF8F0"/>
          </a:solidFill>
          <a:ln w="12700">
            <a:solidFill>
              <a:srgbClr val="E8C8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45536" y="1097280"/>
            <a:ext cx="2633472" cy="301752"/>
          </a:xfrm>
          <a:prstGeom prst="rect">
            <a:avLst/>
          </a:prstGeom>
          <a:solidFill>
            <a:srgbClr val="8B5A00"/>
          </a:solidFill>
          <a:ln w="12700">
            <a:solidFill>
              <a:srgbClr val="8B5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5264" y="113385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金融投资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55264" y="1444752"/>
            <a:ext cx="24140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财报信息抽取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股票/指数/机构识别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金融事件检测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25312" y="1097280"/>
            <a:ext cx="2633472" cy="1463040"/>
          </a:xfrm>
          <a:prstGeom prst="rect">
            <a:avLst/>
          </a:prstGeom>
          <a:solidFill>
            <a:srgbClr val="F8F0FF"/>
          </a:solidFill>
          <a:ln w="12700">
            <a:solidFill>
              <a:srgbClr val="C4A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25312" y="1097280"/>
            <a:ext cx="2633472" cy="301752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133856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法律合规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1444752"/>
            <a:ext cx="24140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法条引用识别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当事人/罪名抽取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合同关键条款定位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61488"/>
            <a:ext cx="2633472" cy="1463040"/>
          </a:xfrm>
          <a:prstGeom prst="rect">
            <a:avLst/>
          </a:prstGeom>
          <a:solidFill>
            <a:srgbClr val="FFF0F0"/>
          </a:solidFill>
          <a:ln w="12700">
            <a:solidFill>
              <a:srgbClr val="E8BCB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761488"/>
            <a:ext cx="2633472" cy="30175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798064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智能电商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3108960"/>
            <a:ext cx="24140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商品属性结构化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品牌/型号/规格抽取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用户评价挖掘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45536" y="2761488"/>
            <a:ext cx="2633472" cy="146304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45536" y="2761488"/>
            <a:ext cx="2633472" cy="3017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55264" y="2798064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新闻媒体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55264" y="3108960"/>
            <a:ext cx="24140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事件主体识别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人物关系抽取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热点话题归因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25312" y="2761488"/>
            <a:ext cx="2633472" cy="1463040"/>
          </a:xfrm>
          <a:prstGeom prst="rect">
            <a:avLst/>
          </a:prstGeom>
          <a:solidFill>
            <a:srgbClr val="EFF7FF"/>
          </a:solidFill>
          <a:ln w="12700">
            <a:solidFill>
              <a:srgbClr val="8BBF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25312" y="2761488"/>
            <a:ext cx="2633472" cy="301752"/>
          </a:xfrm>
          <a:prstGeom prst="rect">
            <a:avLst/>
          </a:prstGeom>
          <a:solidFill>
            <a:srgbClr val="2D6B8B"/>
          </a:solidFill>
          <a:ln w="12700">
            <a:solidFill>
              <a:srgbClr val="2D6B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2798064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智能客服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35040" y="3108960"/>
            <a:ext cx="24140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用户意图实体识别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订单号/产品名识别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FAQ 精准匹配</a:t>
            </a:r>
            <a:endParaRPr lang="en-US" sz="1100" dirty="0"/>
          </a:p>
        </p:txBody>
      </p:sp>
      <p:sp>
        <p:nvSpPr>
          <p:cNvPr id="29" name="TextBox 2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NER：泛信息抽取能力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标注体系设计要点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标注方案选择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65760" y="1417320"/>
          <a:ext cx="4023360" cy="145389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缺点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简洁，标签少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单字实体与多字实体I标签混淆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边界明确，单字有S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标签数翻倍，标注更复杂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最简单（2类）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无法区分相邻同类实体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29260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设计原则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3246120"/>
            <a:ext cx="4023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类别数不宜过多（&gt;20 类会显著增加难度）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类别间边界要清晰，标注歧义越少越好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先用 BIO，数据充足后再考虑 BIOES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保持标注一致性：双人标注 + 仲裁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17720" y="1097280"/>
            <a:ext cx="27432" cy="365760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0600" y="109728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嵌套实体处理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00600" y="141732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 BIO 无法表示嵌套，例如：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zh-CN" alt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</a:t>
            </a:r>
            <a:r>
              <a:rPr lang="en-US" sz="12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大学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中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外层是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ORG</a:t>
            </a:r>
            <a:r>
              <a:rPr lang="zh-CN" alt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（机构）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  <a:r>
              <a:rPr lang="en-US" sz="12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内层也含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</a:t>
            </a:r>
            <a:r>
              <a:rPr lang="zh-CN" alt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（地点）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00600" y="2286000"/>
            <a:ext cx="3977640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2377440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文本</a:t>
            </a: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：</a:t>
            </a:r>
            <a:r>
              <a:rPr lang="zh-CN" alt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北      京      </a:t>
            </a: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大      学 </a:t>
            </a:r>
          </a:p>
          <a:p>
            <a:r>
              <a:rPr lang="en-US" sz="1100" dirty="0" err="1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外层：B-ORG</a:t>
            </a: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I-ORG   </a:t>
            </a:r>
            <a:r>
              <a:rPr lang="en-US" altLang="zh-CN" sz="1100" dirty="0" err="1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I-ORG</a:t>
            </a:r>
            <a:r>
              <a:rPr lang="en-US" altLang="zh-CN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altLang="zh-CN" sz="1100" dirty="0" err="1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I-ORG</a:t>
            </a:r>
            <a:endParaRPr lang="en-US" sz="1100" dirty="0"/>
          </a:p>
          <a:p>
            <a:pPr marL="0" indent="0">
              <a:buNone/>
            </a:pPr>
            <a:r>
              <a:rPr lang="en-US" sz="1100" dirty="0" err="1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内层：B-</a:t>
            </a:r>
            <a:r>
              <a:rPr lang="en-US" altLang="zh-CN" sz="1100" dirty="0" err="1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</a:t>
            </a: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I-LOC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00600" y="31821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应对方案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00600" y="3493008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多层标注（每层独立 BIO 序列）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Span-based 方法（枚举所有 span 打分）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业务中若嵌套比例低，可忽略处理</a:t>
            </a:r>
            <a:endParaRPr 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CRF 与维特比解码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为什么需要 CRF  ·  原理  ·  维特比算法  ·  训练与推理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CRF 与维特比解码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为什么需要 CRF？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3385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独立预测（Softmax per token）的缺陷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token 的标签独立预测，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不考虑相邻标签之间的约束。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非法标签转移示例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4023360" cy="111556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32304"/>
            <a:ext cx="37490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预测输出：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B-PER  I-LOC  I-ORG  B-ORG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^^^^         ^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非法：I-LOC  不能跟在 B-PER 后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非法：前面没有 B-ORG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547872"/>
            <a:ext cx="4023360" cy="1078992"/>
          </a:xfrm>
          <a:prstGeom prst="rect">
            <a:avLst/>
          </a:prstGeom>
          <a:solidFill>
            <a:srgbClr val="FFF8F0"/>
          </a:solidFill>
          <a:ln w="12700">
            <a:solidFill>
              <a:srgbClr val="E8C8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6210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常见非法转移模式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488" y="3895344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I-X  不能出现在序列起始位置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I-X  不能紧接在 B-Y (X!=Y) 之后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I-X  不能紧接在 O 标签之后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17720" y="1097280"/>
            <a:ext cx="27432" cy="365760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097280"/>
            <a:ext cx="3977640" cy="32004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113385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CRF 的解决方案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00600" y="146304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CRF 在输出层加入全局转移约束，对整条标签序列联合建模，找全局最优输出。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2121408"/>
            <a:ext cx="3977640" cy="65836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194560"/>
            <a:ext cx="3758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P(Y|X) ∝ exp( Σ emission(yₜ,xₜ) + Σ transition(yₜ₋₁,yₜ) 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871216"/>
            <a:ext cx="3977640" cy="365760"/>
          </a:xfrm>
          <a:prstGeom prst="rect">
            <a:avLst/>
          </a:prstGeom>
          <a:solidFill>
            <a:srgbClr val="F0FAF3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29077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emission：当前 token 属于某标签的得分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3300984"/>
            <a:ext cx="3977640" cy="365760"/>
          </a:xfrm>
          <a:prstGeom prst="rect">
            <a:avLst/>
          </a:prstGeom>
          <a:solidFill>
            <a:srgbClr val="F0FAF3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33375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transition：相邻标签对的转移得分（可学习）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730752"/>
            <a:ext cx="3977640" cy="365760"/>
          </a:xfrm>
          <a:prstGeom prst="rect">
            <a:avLst/>
          </a:prstGeom>
          <a:solidFill>
            <a:srgbClr val="F0FAF3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37673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联合对整条序列打分，取全局最优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4160520"/>
            <a:ext cx="3977640" cy="365760"/>
          </a:xfrm>
          <a:prstGeom prst="rect">
            <a:avLst/>
          </a:prstGeom>
          <a:solidFill>
            <a:srgbClr val="F0FAF3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41970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转移矩阵在训练中自动学到非法约束</a:t>
            </a:r>
            <a:endParaRPr lang="en-US" sz="1100" dirty="0"/>
          </a:p>
        </p:txBody>
      </p:sp>
      <p:sp>
        <p:nvSpPr>
          <p:cNvPr id="28" name="TextBox 2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CRF 与维特比解码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CRF 原理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8412480" cy="59436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70432"/>
            <a:ext cx="819302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score(Y, X) = Σₜ emission(yₜ, xₜ)  +  Σₜ transition(yₜ₋₁, yₜ)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发射分数（Emission Score）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来自底层编码器（LSTM / BERT）的 token 表示，经过 Linear 层映射到每个标签的得分。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4023360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71800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BERT + Linear 输出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 = linear(bert_out) # (T, num_tags)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logits[t][j] = emit(token_t -&gt; tag_j)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749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表示 token t 属于标签 j 的局部得分，不考虑序列约束。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828800"/>
            <a:ext cx="27432" cy="292608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82880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转移分数（Transition Score）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14884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一个可学习的矩阵 T，大小为 (num_tags, num_tags)。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T[i][j] 表示从标签 i 转移到标签 j 的得分。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4800600" y="2880360"/>
          <a:ext cx="2286000" cy="128016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7178040" y="2999232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→ B 得分极低（-5.0）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自动抑制非法转移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00600" y="422452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训练时通过最大化正确序列得分，矩阵自动学到非法转移 = 极大负数。</a:t>
            </a:r>
            <a:endParaRPr lang="en-US" sz="1100" dirty="0"/>
          </a:p>
        </p:txBody>
      </p:sp>
      <p:sp>
        <p:nvSpPr>
          <p:cNvPr id="18" name="TextBox 1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CRF 与维特比解码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维特比解码（Viterbi Decoding）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动态规划：在所有合法标签序列中，找使得总得分最大的路径。避免枚举所有路径（指数级），以 O(T × K²) 完成。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54864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993392"/>
            <a:ext cx="8193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dp[t][j] = max_i ( dp[t-1][i] + trans[i][j] ) + emit[t][j]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5786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算法步骤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889504"/>
            <a:ext cx="59436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16936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889504"/>
            <a:ext cx="3401568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2916936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dp[0][j] = emit[0][j]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310128"/>
            <a:ext cx="59436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3756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递推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87552" y="3310128"/>
            <a:ext cx="3401568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3337560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dp[t][j] = max_i(dp[t-1][i]+trans[i][j]) + emit[t][j]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730752"/>
            <a:ext cx="59436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758184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87552" y="3730752"/>
            <a:ext cx="3401568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3758184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ptr[t][j] = argmax_i(dp[t-1][i]+trans[i][j])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151376"/>
            <a:ext cx="59436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178808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终止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7552" y="4151376"/>
            <a:ext cx="3401568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4178808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best_last = argmax_j(dp[T-1][j])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572000"/>
            <a:ext cx="59436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599432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回溯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87552" y="4572000"/>
            <a:ext cx="3401568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4599432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从 best_last 沿 ptr 反向追踪最优路径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17720" y="2578608"/>
            <a:ext cx="27432" cy="237744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5786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路径示意（3 标签 x 4 时间步）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28032" y="3003146"/>
            <a:ext cx="402336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021434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28032" y="3551786"/>
            <a:ext cx="402336" cy="36576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3570074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28032" y="4100426"/>
            <a:ext cx="402336" cy="365760"/>
          </a:xfrm>
          <a:prstGeom prst="ellipse">
            <a:avLst/>
          </a:prstGeom>
          <a:solidFill>
            <a:srgbClr val="6666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4118714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05272" y="3003146"/>
            <a:ext cx="402336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05272" y="3021434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05272" y="3551786"/>
            <a:ext cx="402336" cy="36576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05272" y="3570074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05272" y="4100426"/>
            <a:ext cx="402336" cy="365760"/>
          </a:xfrm>
          <a:prstGeom prst="ellipse">
            <a:avLst/>
          </a:prstGeom>
          <a:solidFill>
            <a:srgbClr val="6666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05272" y="4118714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82512" y="3003146"/>
            <a:ext cx="402336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82512" y="3021434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82512" y="3551786"/>
            <a:ext cx="402336" cy="36576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2512" y="3570074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82512" y="4100426"/>
            <a:ext cx="402336" cy="365760"/>
          </a:xfrm>
          <a:prstGeom prst="ellipse">
            <a:avLst/>
          </a:prstGeom>
          <a:solidFill>
            <a:srgbClr val="6666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2512" y="4118714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159752" y="3003146"/>
            <a:ext cx="402336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59752" y="3021434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159752" y="3551786"/>
            <a:ext cx="402336" cy="36576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59752" y="3570074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159752" y="4100426"/>
            <a:ext cx="402336" cy="365760"/>
          </a:xfrm>
          <a:prstGeom prst="ellipse">
            <a:avLst/>
          </a:prstGeom>
          <a:solidFill>
            <a:srgbClr val="6666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59752" y="4118714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230368" y="3186026"/>
            <a:ext cx="374904" cy="548640"/>
          </a:xfrm>
          <a:prstGeom prst="line">
            <a:avLst/>
          </a:prstGeom>
          <a:noFill/>
          <a:ln w="31750">
            <a:solidFill>
              <a:srgbClr val="D4720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07608" y="3734666"/>
            <a:ext cx="374904" cy="0"/>
          </a:xfrm>
          <a:prstGeom prst="line">
            <a:avLst/>
          </a:prstGeom>
          <a:noFill/>
          <a:ln w="31750">
            <a:solidFill>
              <a:srgbClr val="D4720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84848" y="3734666"/>
            <a:ext cx="374904" cy="548640"/>
          </a:xfrm>
          <a:prstGeom prst="line">
            <a:avLst/>
          </a:prstGeom>
          <a:noFill/>
          <a:ln w="31750">
            <a:solidFill>
              <a:srgbClr val="D4720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0600" y="464515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最优路径：B → I → I → O</a:t>
            </a:r>
            <a:endParaRPr lang="en-US" sz="1100" dirty="0"/>
          </a:p>
        </p:txBody>
      </p:sp>
      <p:sp>
        <p:nvSpPr>
          <p:cNvPr id="60" name="TextBox 5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CRF 与维特比解码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 / 推理 与使用建议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3017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33856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训练阶段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26464"/>
            <a:ext cx="4023360" cy="135331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17904"/>
            <a:ext cx="37490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目标：最大化正确标签序列得分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P(Y*|X) = score(Y*, X)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- log Z(X)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Z(X)：所有序列得分之和（前向算法）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871216"/>
            <a:ext cx="4023360" cy="3017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907792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推理阶段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402336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918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Y* = argmax_Y score(Y, X)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 Viterbi(emission, transition)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复杂度：O(T * K^2)  T=序列长,K=标签数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097280"/>
            <a:ext cx="27432" cy="31089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097280"/>
            <a:ext cx="3977640" cy="30175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1338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CRF 并非必选项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444752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CRF 在 LSTM 时代收益显著——LSTM 的局部感受野难以学好标签依赖，CRF 弥补了这一短板。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13969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BERT 等强基座时：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2450592"/>
            <a:ext cx="397764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4871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BERT 的双向注意力已能捕捉全局标签依赖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871216"/>
            <a:ext cx="397764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29077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CRF 带来的 F1 提升通常 &lt;0.5%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3291840"/>
            <a:ext cx="3977640" cy="347472"/>
          </a:xfrm>
          <a:prstGeom prst="rect">
            <a:avLst/>
          </a:prstGeom>
          <a:solidFill>
            <a:srgbClr val="FFF8F0"/>
          </a:solidFill>
          <a:ln w="12700">
            <a:solidFill>
              <a:srgbClr val="E8C8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33284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维特比解码增加推理延迟（串行），批处理受限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712464"/>
            <a:ext cx="3977640" cy="347472"/>
          </a:xfrm>
          <a:prstGeom prst="rect">
            <a:avLst/>
          </a:prstGeom>
          <a:solidFill>
            <a:srgbClr val="FFF8F0"/>
          </a:solidFill>
          <a:ln w="12700">
            <a:solidFill>
              <a:srgbClr val="E8C8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3749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轻量部署/实时场景：直接 Softmax 更实用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4315968"/>
            <a:ext cx="3977640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437083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经验结论：BERT 基座 + Softmax 直接可用；若数据少或标签约束复杂，再加 CRF。</a:t>
            </a:r>
            <a:endParaRPr lang="en-US" sz="1100" dirty="0"/>
          </a:p>
        </p:txBody>
      </p:sp>
      <p:sp>
        <p:nvSpPr>
          <p:cNvPr id="28" name="TextBox 2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评估方式与常见问题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为何不能用 Token 准确率  ·  实体级 F1  ·  远程监督  ·  滚雪球优化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 评估方式与常见问题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 Token 准确率没有意义？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3385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常见误操作：用 Token 准确率衡量 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为什么准确率虚高？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1051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大多数 token 标签是 O（非实体），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标签天然占主导地位。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95728"/>
            <a:ext cx="4023360" cy="148132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87168"/>
            <a:ext cx="37490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句子：北京 是 中国 的 首都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真实：B-LOC O B-LOC O 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预测：O    O O    O O  (全预测O)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准确率 = 3/5 = 60%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(预测了3个O是正确的)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模型没有识别任何实体！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968496"/>
            <a:ext cx="4023360" cy="685800"/>
          </a:xfrm>
          <a:prstGeom prst="rect">
            <a:avLst/>
          </a:prstGeom>
          <a:solidFill>
            <a:srgbClr val="FDF2F2"/>
          </a:solidFill>
          <a:ln w="12700">
            <a:solidFill>
              <a:srgbClr val="E8BC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404164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极端情况：一段文本中实体只占 10% 的 token，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全预测 O 的准确率仍高达 90%！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17720" y="1097280"/>
            <a:ext cx="27432" cy="365760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09728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根本问题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426464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的业务价值在于能否完整抽取出实体，不在于 token 级别的对与错。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148840"/>
            <a:ext cx="3977640" cy="658368"/>
          </a:xfrm>
          <a:prstGeom prst="rect">
            <a:avLst/>
          </a:prstGeom>
          <a:solidFill>
            <a:srgbClr val="FFF8F0"/>
          </a:solidFill>
          <a:ln w="12700">
            <a:solidFill>
              <a:srgbClr val="E8C8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221284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边界错：抽到"北京天安"(少了"门")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Token 准确率高，但实体错误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916936"/>
            <a:ext cx="3977640" cy="658368"/>
          </a:xfrm>
          <a:prstGeom prst="rect">
            <a:avLst/>
          </a:prstGeom>
          <a:solidFill>
            <a:srgbClr val="FFF8F0"/>
          </a:solidFill>
          <a:ln w="12700">
            <a:solidFill>
              <a:srgbClr val="E8C8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980944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漏识：一个实体完全没识别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Token 大量对，但召回为零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685032"/>
            <a:ext cx="3977640" cy="658368"/>
          </a:xfrm>
          <a:prstGeom prst="rect">
            <a:avLst/>
          </a:prstGeom>
          <a:solidFill>
            <a:srgbClr val="FFF8F0"/>
          </a:solidFill>
          <a:ln w="12700">
            <a:solidFill>
              <a:srgbClr val="E8C8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374904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类型错：PER 预测为 ORG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边界正确但类型错，Token 仍可能算对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47091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以上错误在 Token 准确率下均被掩盖</a:t>
            </a:r>
            <a:endParaRPr lang="en-US" sz="1100" dirty="0"/>
          </a:p>
        </p:txBody>
      </p:sp>
      <p:sp>
        <p:nvSpPr>
          <p:cNvPr id="23" name="TextBox 2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 评估方式与常见问题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正确的评估方式：实体级 F1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评估粒度：一个实体被视为正确，当且仅当实体的起止边界与类型均完全匹配（Exact Match）。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三个核心指标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22960" cy="54864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47672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16152" y="1920240"/>
            <a:ext cx="3172968" cy="548640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1947672"/>
            <a:ext cx="2971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正确识别实体数 / 模型预测总实体数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82296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06040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16152" y="2578608"/>
            <a:ext cx="3172968" cy="548640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2606040"/>
            <a:ext cx="2971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正确识别实体数 / 标注集真实实体总数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236976"/>
            <a:ext cx="822960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64408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16152" y="3236976"/>
            <a:ext cx="3172968" cy="548640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3264408"/>
            <a:ext cx="2971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 x P x R / (P + R)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3931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是 P 和 R 的调和平均，兼顾精确率与召回率，是 NER 首选指标。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462272"/>
            <a:ext cx="402336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51713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工具：pip install seqeval  (直接支持 BIO/BIOES 格式)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1600200"/>
            <a:ext cx="27432" cy="320040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60020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计算示例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1920240"/>
            <a:ext cx="3977640" cy="217627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011680"/>
            <a:ext cx="370332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真实实体：[北京/LOC] [阿里巴巴/ORG]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预测实体：[北京/LOC] [阿里巴/ORG]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^^^^^ 边界错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= 1 (北京完全正确)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 = 1 (阿里巴 类型对但边界错)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= 1 (阿里巴巴 未被正确识别)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1/2 = 0.50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1/2 = 0.50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= 0.50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4187952"/>
            <a:ext cx="397764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4279392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seqeval.metrics import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precision_score, recall_score,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f1_score, classification_report)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print(classification_report(y_true, y_pred))</a:t>
            </a:r>
            <a:endParaRPr lang="en-US" sz="1050" dirty="0"/>
          </a:p>
        </p:txBody>
      </p:sp>
      <p:sp>
        <p:nvSpPr>
          <p:cNvPr id="28" name="TextBox 2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 评估方式与常见问题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常见错误模式与优化方向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92784"/>
            <a:ext cx="4078224" cy="1975104"/>
          </a:xfrm>
          <a:prstGeom prst="rect">
            <a:avLst/>
          </a:prstGeom>
          <a:solidFill>
            <a:srgbClr val="FDF2F2"/>
          </a:solidFill>
          <a:ln w="12700">
            <a:solidFill>
              <a:srgbClr val="E8BC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92784"/>
            <a:ext cx="4078224" cy="3017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29360"/>
            <a:ext cx="3858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边界截断 / 扩张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34025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321968"/>
            <a:ext cx="33284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应抽"北京天安门" → 抽成"北京天安"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边界识别不准，F1 直接归零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199862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1980336"/>
            <a:ext cx="33284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增加长实体训练样本；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适当调大序列最大长度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08576" y="992784"/>
            <a:ext cx="4078224" cy="1975104"/>
          </a:xfrm>
          <a:prstGeom prst="rect">
            <a:avLst/>
          </a:prstGeom>
          <a:solidFill>
            <a:srgbClr val="FFF8F0"/>
          </a:solidFill>
          <a:ln w="12700">
            <a:solidFill>
              <a:srgbClr val="E8C8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8576" y="992784"/>
            <a:ext cx="4078224" cy="30175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1029360"/>
            <a:ext cx="3858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实体类型混淆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18304" y="134025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现象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48656" y="1321968"/>
            <a:ext cx="33284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"阿里巴巴"(ORG) 被预测为 PER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类别间语义相似，模型难区分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18304" y="199862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48656" y="1980336"/>
            <a:ext cx="33284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增加类别混淆样本；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优化标签设计，避免歧义类别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125949"/>
            <a:ext cx="4078224" cy="1975104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125949"/>
            <a:ext cx="4078224" cy="3017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162525"/>
            <a:ext cx="3858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漏识（低 Recall）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" y="3473421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现象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3455133"/>
            <a:ext cx="33284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真实实体完全未被识别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通常由训练集覆盖不足导致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" y="4131789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" y="4113501"/>
            <a:ext cx="33284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扩充标注数据；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远程监督补充稀有实体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08576" y="3125949"/>
            <a:ext cx="4078224" cy="1975104"/>
          </a:xfrm>
          <a:prstGeom prst="rect">
            <a:avLst/>
          </a:prstGeom>
          <a:solidFill>
            <a:srgbClr val="F8F0FF"/>
          </a:solidFill>
          <a:ln w="12700">
            <a:solidFill>
              <a:srgbClr val="C4A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08576" y="3125949"/>
            <a:ext cx="4078224" cy="301752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8304" y="3162525"/>
            <a:ext cx="3858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误识（低 Precision）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18304" y="3473421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现象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48656" y="3455133"/>
            <a:ext cx="33284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非实体被预测为实体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常见于通用词与专业词混淆场景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18304" y="4131789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48656" y="4113501"/>
            <a:ext cx="33284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负样本补充；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加入领域上下文特征</a:t>
            </a:r>
            <a:endParaRPr lang="en-US" sz="1050" dirty="0"/>
          </a:p>
        </p:txBody>
      </p:sp>
      <p:sp>
        <p:nvSpPr>
          <p:cNvPr id="33" name="TextBox 3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 评估方式与常见问题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冷启动与远程监督（Distant Supervision）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3385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业务落地的核心痛点：缺标注数据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4023360" cy="402336"/>
          </a:xfrm>
          <a:prstGeom prst="rect">
            <a:avLst/>
          </a:prstGeom>
          <a:solidFill>
            <a:srgbClr val="FDF2F2"/>
          </a:solidFill>
          <a:ln w="12700">
            <a:solidFill>
              <a:srgbClr val="E8BC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1790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人工标注成本高（1000条/天）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56816"/>
            <a:ext cx="4023360" cy="402336"/>
          </a:xfrm>
          <a:prstGeom prst="rect">
            <a:avLst/>
          </a:prstGeom>
          <a:solidFill>
            <a:srgbClr val="FDF2F2"/>
          </a:solidFill>
          <a:ln w="12700">
            <a:solidFill>
              <a:srgbClr val="E8BC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9339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初期质量不稳定、标注歧义大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32304"/>
            <a:ext cx="4023360" cy="402336"/>
          </a:xfrm>
          <a:prstGeom prst="rect">
            <a:avLst/>
          </a:prstGeom>
          <a:solidFill>
            <a:srgbClr val="FDF2F2"/>
          </a:solidFill>
          <a:ln w="12700">
            <a:solidFill>
              <a:srgbClr val="E8BC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46888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新领域/新类别启动周期长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07792"/>
            <a:ext cx="4023360" cy="402336"/>
          </a:xfrm>
          <a:prstGeom prst="rect">
            <a:avLst/>
          </a:prstGeom>
          <a:solidFill>
            <a:srgbClr val="FDF2F2"/>
          </a:solidFill>
          <a:ln w="12700">
            <a:solidFill>
              <a:srgbClr val="E8BC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94436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专家标注资源稀缺（医疗、法律…）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1097280"/>
            <a:ext cx="27432" cy="393192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097280"/>
            <a:ext cx="3977640" cy="32004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13385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远程监督（Distant Supervision）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00600" y="148132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核心思路：用已有知识库/词典匹配文本，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自动生成标注，无需人工。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121408"/>
            <a:ext cx="397764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212848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词典：{'阿司匹林': DRUG, '冠心病': DIS}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文本：患者服用阿司匹林治疗冠心病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=&gt; B-DRUG I-DRUG ... B-DIS I-DIS 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(自动生成标注)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317296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优势与风险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3493008"/>
            <a:ext cx="39776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35295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快速获得大量训练数据（免人工）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840480"/>
            <a:ext cx="39776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387705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词典覆盖率有限，可能漏标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4187952"/>
            <a:ext cx="39776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422452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歧义词误标（噪声标签）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4535424"/>
            <a:ext cx="39776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0328" y="457200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噪声需通过置信度过滤控制</a:t>
            </a:r>
            <a:endParaRPr lang="en-US"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 评估方式与常见问题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滚雪球式迭代优化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核心思想：模型越好，能筛选的高质量数据越多；数据越多，模型越好——形成正向飞轮。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1481328" cy="1828800"/>
          </a:xfrm>
          <a:prstGeom prst="rect">
            <a:avLst/>
          </a:prstGeom>
          <a:solidFill>
            <a:srgbClr val="EBF4FA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572768"/>
            <a:ext cx="420624" cy="42062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5727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少量人工标注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05456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100~500条精标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覆盖典型模式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47088" y="2395728"/>
            <a:ext cx="146304" cy="14630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47088" y="2340864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0" y="1572768"/>
            <a:ext cx="1481328" cy="1828800"/>
          </a:xfrm>
          <a:prstGeom prst="rect">
            <a:avLst/>
          </a:prstGeom>
          <a:solidFill>
            <a:srgbClr val="EBF4FA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42032" y="1572768"/>
            <a:ext cx="420624" cy="42062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5727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03120" y="205740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训练初始模型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2505456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+ CRF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初始NER模型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93008" y="2395728"/>
            <a:ext cx="146304" cy="14630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2340864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0" y="1572768"/>
            <a:ext cx="1481328" cy="1828800"/>
          </a:xfrm>
          <a:prstGeom prst="rect">
            <a:avLst/>
          </a:prstGeom>
          <a:solidFill>
            <a:srgbClr val="EBF4FA"/>
          </a:solidFill>
          <a:ln w="25400">
            <a:solidFill>
              <a:srgbClr val="217B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87952" y="1572768"/>
            <a:ext cx="420624" cy="420624"/>
          </a:xfrm>
          <a:prstGeom prst="ellipse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87952" y="15727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49040" y="205740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预测+过滤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0" y="2505456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无标注文本预测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高置信样本保留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38928" y="2395728"/>
            <a:ext cx="146304" cy="14630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38928" y="2340864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03520" y="1572768"/>
            <a:ext cx="1481328" cy="1828800"/>
          </a:xfrm>
          <a:prstGeom prst="rect">
            <a:avLst/>
          </a:prstGeom>
          <a:solidFill>
            <a:srgbClr val="EBF4FA"/>
          </a:solidFill>
          <a:ln w="25400">
            <a:solidFill>
              <a:srgbClr val="D472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33872" y="1572768"/>
            <a:ext cx="420624" cy="420624"/>
          </a:xfrm>
          <a:prstGeom prst="ellipse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33872" y="15727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205740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人工审核扩充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2505456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审核高置信结果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修正后加入训练集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84848" y="2395728"/>
            <a:ext cx="146304" cy="14630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84848" y="2340864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49440" y="1572768"/>
            <a:ext cx="1481328" cy="1828800"/>
          </a:xfrm>
          <a:prstGeom prst="rect">
            <a:avLst/>
          </a:prstGeom>
          <a:solidFill>
            <a:srgbClr val="EBF4FA"/>
          </a:solidFill>
          <a:ln w="25400">
            <a:solidFill>
              <a:srgbClr val="6B2D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79792" y="1572768"/>
            <a:ext cx="420624" cy="420624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79792" y="15727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40880" y="205740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重训 → 迭代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0" y="2505456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扩充数据重训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数据集指数增长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3547872"/>
            <a:ext cx="8412480" cy="111556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611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关键控制点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" y="390448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置信度阈值：只将模型打分 &gt; 0.9 的预测结果纳入扩充，抑制噪声积累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" y="415137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人工抽检：每轮扩充前随机抽查 5%~10%，发现质量下降立即暂停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" y="439826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验证集独立：保留一份全人工标注的测试集，作为每轮迭代的客观评估基准</a:t>
            </a:r>
            <a:endParaRPr lang="en-US" sz="1100" dirty="0"/>
          </a:p>
        </p:txBody>
      </p:sp>
      <p:sp>
        <p:nvSpPr>
          <p:cNvPr id="44" name="TextBox 43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时代的信息抽取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微调方案  ·  LLM 方案  ·  对比  ·  混合策略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 LLM 时代的信息抽取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微调序列标注方案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模型架构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4023360" cy="402336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8132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输入文本 Token 序列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40280" y="182880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402336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7510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Encoder（双向 Transformer）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232257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32304"/>
            <a:ext cx="4023360" cy="4023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6888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Linear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28163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023360" cy="402336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96265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CRF 层（可选）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40280" y="3310128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419856"/>
            <a:ext cx="4023360" cy="402336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45643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标签序列输出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1097280"/>
            <a:ext cx="27432" cy="37947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0972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1408176"/>
            <a:ext cx="3977640" cy="338328"/>
          </a:xfrm>
          <a:prstGeom prst="rect">
            <a:avLst/>
          </a:prstGeom>
          <a:solidFill>
            <a:srgbClr val="F0FAF3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1444752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精度高（特别是领域数据充足时）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00600" y="1810512"/>
            <a:ext cx="3977640" cy="338328"/>
          </a:xfrm>
          <a:prstGeom prst="rect">
            <a:avLst/>
          </a:prstGeom>
          <a:solidFill>
            <a:srgbClr val="F0FAF3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1847088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推理速度快，支持大规模批处理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00600" y="2212848"/>
            <a:ext cx="3977640" cy="338328"/>
          </a:xfrm>
          <a:prstGeom prst="rect">
            <a:avLst/>
          </a:prstGeom>
          <a:solidFill>
            <a:srgbClr val="F0FAF3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2249424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输出格式可控（严格 BIO 序列）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00600" y="2615184"/>
            <a:ext cx="3977640" cy="338328"/>
          </a:xfrm>
          <a:prstGeom prst="rect">
            <a:avLst/>
          </a:prstGeom>
          <a:solidFill>
            <a:srgbClr val="F0FAF3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0328" y="2651760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部署成本低（可蒸馏/量化）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00600" y="30906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劣势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00600" y="3401568"/>
            <a:ext cx="3977640" cy="338328"/>
          </a:xfrm>
          <a:prstGeom prst="rect">
            <a:avLst/>
          </a:prstGeom>
          <a:solidFill>
            <a:srgbClr val="FDF2F2"/>
          </a:solidFill>
          <a:ln w="12700">
            <a:solidFill>
              <a:srgbClr val="E8BCB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3438144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需要标注数据（冷启动难）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00600" y="3803904"/>
            <a:ext cx="3977640" cy="338328"/>
          </a:xfrm>
          <a:prstGeom prst="rect">
            <a:avLst/>
          </a:prstGeom>
          <a:solidFill>
            <a:srgbClr val="FDF2F2"/>
          </a:solidFill>
          <a:ln w="12700">
            <a:solidFill>
              <a:srgbClr val="E8BCB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3840480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标签类型固定，扩展需重训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00600" y="4206240"/>
            <a:ext cx="3977640" cy="338328"/>
          </a:xfrm>
          <a:prstGeom prst="rect">
            <a:avLst/>
          </a:prstGeom>
          <a:solidFill>
            <a:srgbClr val="FDF2F2"/>
          </a:solidFill>
          <a:ln w="12700">
            <a:solidFill>
              <a:srgbClr val="E8BCB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4242816"/>
            <a:ext cx="3749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难以处理嵌套或复杂结构</a:t>
            </a:r>
            <a:endParaRPr lang="en-US" sz="1150" dirty="0"/>
          </a:p>
        </p:txBody>
      </p:sp>
      <p:sp>
        <p:nvSpPr>
          <p:cNvPr id="37" name="TextBox 3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 LLM 时代的信息抽取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信息抽取方案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70048" cy="376732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670048" cy="3017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33856"/>
            <a:ext cx="2487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方式 1  Prompt 直接抽取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/ Few-shot 提示词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直接指定抽取目标和格式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2487168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48256"/>
            <a:ext cx="230428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Prompt: 抽取以下文本中的药品名：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患者服用阿司匹林治疗冠心病。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[{text:阿司匹林, type:DRUG}]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163824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无需任何标注数据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45643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一致性差，边界易错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097280"/>
            <a:ext cx="2670048" cy="3767328"/>
          </a:xfrm>
          <a:prstGeom prst="rect">
            <a:avLst/>
          </a:prstGeom>
          <a:solidFill>
            <a:srgbClr val="F0FAF3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097280"/>
            <a:ext cx="2670048" cy="3017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133856"/>
            <a:ext cx="2487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方式 2  结构化输出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91840" y="1444752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/ JSON Schema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强制模型输出结构化结果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1993392"/>
            <a:ext cx="2487168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048256"/>
            <a:ext cx="230428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tools=[{name:'extract_entity',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params:{entities:array}}]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GPT/Claude 工具调用模式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91840" y="3163824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格式可靠，利于下游处理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91840" y="345643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仍依赖 LLM，成本较高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1097280"/>
            <a:ext cx="2670048" cy="3767328"/>
          </a:xfrm>
          <a:prstGeom prst="rect">
            <a:avLst/>
          </a:prstGeom>
          <a:solidFill>
            <a:srgbClr val="F8F0FF"/>
          </a:solidFill>
          <a:ln w="12700">
            <a:solidFill>
              <a:srgbClr val="C4A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097280"/>
            <a:ext cx="2670048" cy="301752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133856"/>
            <a:ext cx="2487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方式 3  指令微调（SFT）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26480" y="1444752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IE 数据集上做 SFT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模型输出特定格式抽取结果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1993392"/>
            <a:ext cx="2487168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048256"/>
            <a:ext cx="230428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训练数据格式示例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识别句中的NER实体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患者服用阿司匹林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阿司匹林-&gt;DRUG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26480" y="3163824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兼顾灵活性与一致性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26480" y="345643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需要指令格式训练数据</a:t>
            </a:r>
            <a:endParaRPr lang="en-US" sz="1050" dirty="0"/>
          </a:p>
        </p:txBody>
      </p:sp>
      <p:sp>
        <p:nvSpPr>
          <p:cNvPr id="29" name="TextBox 2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 LLM 时代的信息抽取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方案对比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65760" y="1051560"/>
          <a:ext cx="8412480" cy="358444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对比维度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微调 + CRF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Prompt / SFT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标注数据需求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高（需专项标注）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低（零样本可用）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灵活性（新类型）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低（需重训）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高（改 Prompt 即可）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推理速度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快（毫秒级）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慢（秒级）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部署成本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低（小模型可蒸馏）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高（GPU 密集）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输出一致性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强（格式固定）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47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较弱（需后处理）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嵌套/复杂结构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弱（需特殊设计）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强（自然语言理解）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冷启动场景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7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好（zero/few-shot）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 LLM 时代的信息抽取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推荐策略与混合方案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88336" cy="2834640"/>
          </a:xfrm>
          <a:prstGeom prst="rect">
            <a:avLst/>
          </a:prstGeom>
          <a:solidFill>
            <a:srgbClr val="EBF4FA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688336" cy="3657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数据充足  →  BERT + CRF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" y="1517904"/>
            <a:ext cx="24688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拥有 1000+ 条专项标注数据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追求低延迟、高吞吐的生产部署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类别稳定，不频繁变更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18688" y="1097280"/>
            <a:ext cx="2688336" cy="2834640"/>
          </a:xfrm>
          <a:prstGeom prst="rect">
            <a:avLst/>
          </a:prstGeom>
          <a:solidFill>
            <a:srgbClr val="F8F0FF"/>
          </a:solidFill>
          <a:ln w="25400">
            <a:solidFill>
              <a:srgbClr val="C4A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1097280"/>
            <a:ext cx="2688336" cy="36576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冷启动 / 低资源  →  LLM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28416" y="1517904"/>
            <a:ext cx="24688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新业务场景、无历史标注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需快速验证 NER 可行性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类别多变或结构复杂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（如关系抽取、事件抽取）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71616" y="1097280"/>
            <a:ext cx="2688336" cy="2834640"/>
          </a:xfrm>
          <a:prstGeom prst="rect">
            <a:avLst/>
          </a:prstGeom>
          <a:solidFill>
            <a:srgbClr val="EEF2F8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71616" y="1097280"/>
            <a:ext cx="2688336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混合方案（推荐）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81344" y="1517904"/>
            <a:ext cx="24688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生成少量高质量伪标注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人工审核 + 纠错后形成种子集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用种子集训练 BERT 小模型上线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后期滚雪球迭代扩充数据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059936"/>
            <a:ext cx="8412480" cy="85039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14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混合流程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20240" y="4114800"/>
            <a:ext cx="1234440" cy="292608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0" y="413308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伪标注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54680" y="4133088"/>
            <a:ext cx="118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73552" y="4114800"/>
            <a:ext cx="1234440" cy="29260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3552" y="413308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人工审核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07992" y="4133088"/>
            <a:ext cx="118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26864" y="4114800"/>
            <a:ext cx="1234440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6864" y="413308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种子集训练 BERT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61304" y="4133088"/>
            <a:ext cx="118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80176" y="4114800"/>
            <a:ext cx="1234440" cy="29260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0176" y="413308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上线推理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14616" y="4133088"/>
            <a:ext cx="118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33488" y="4114800"/>
            <a:ext cx="123444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33488" y="413308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滚雪球扩充</a:t>
            </a:r>
            <a:endParaRPr lang="en-US" sz="1000" dirty="0"/>
          </a:p>
        </p:txBody>
      </p:sp>
      <p:sp>
        <p:nvSpPr>
          <p:cNvPr id="33" name="TextBox 3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课程小结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序列标注任务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5486400" cy="27432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938528"/>
            <a:ext cx="384048" cy="38404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38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3749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序列标注 = 等长序列输入输出，NLP 核心范式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00600" y="1938528"/>
            <a:ext cx="384048" cy="38404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938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57800" y="1828800"/>
            <a:ext cx="3749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是泛信息抽取框架，不局限于固定类别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852928"/>
            <a:ext cx="384048" cy="38404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743200"/>
            <a:ext cx="3749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CRF 建模全局标签依赖；维特比解码找最优路径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00600" y="2852928"/>
            <a:ext cx="384048" cy="38404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852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7800" y="2743200"/>
            <a:ext cx="3749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评估用实体级 F1，Token 准确率无意义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767328"/>
            <a:ext cx="384048" cy="38404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67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3657600"/>
            <a:ext cx="3749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远程监督 + 滚雪球迭代解决标注瓶颈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00600" y="3767328"/>
            <a:ext cx="384048" cy="38404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767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3657600"/>
            <a:ext cx="3749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灵活冷启动；BERT 精准高效；混合最优</a:t>
            </a:r>
            <a:endParaRPr lang="en-US" sz="1250" dirty="0"/>
          </a:p>
        </p:txBody>
      </p:sp>
      <p:sp>
        <p:nvSpPr>
          <p:cNvPr id="25" name="TextBox 2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2480</Words>
  <Application>Microsoft Office PowerPoint</Application>
  <PresentationFormat>全屏显示(16:9)</PresentationFormat>
  <Paragraphs>654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4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zimo Yin</cp:lastModifiedBy>
  <cp:revision>7</cp:revision>
  <dcterms:created xsi:type="dcterms:W3CDTF">2026-04-22T03:11:17Z</dcterms:created>
  <dcterms:modified xsi:type="dcterms:W3CDTF">2026-05-25T03:14:42Z</dcterms:modified>
</cp:coreProperties>
</file>